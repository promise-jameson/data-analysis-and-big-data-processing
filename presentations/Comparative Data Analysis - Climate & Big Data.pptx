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77" r:id="rId7"/>
    <p:sldId id="278" r:id="rId8"/>
    <p:sldId id="261" r:id="rId9"/>
    <p:sldId id="262" r:id="rId10"/>
    <p:sldId id="263" r:id="rId11"/>
    <p:sldId id="274" r:id="rId12"/>
    <p:sldId id="275" r:id="rId13"/>
    <p:sldId id="276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/>
  <p:notesSz cx="6858000" cy="9144000"/>
  <p:embeddedFontLst>
    <p:embeddedFont>
      <p:font typeface="Open Sans" panose="020B0606030504020204" pitchFamily="34" charset="0"/>
      <p:regular r:id="rId26"/>
      <p:bold r:id="rId27"/>
      <p:italic r:id="rId28"/>
      <p:boldItalic r:id="rId29"/>
    </p:embeddedFont>
    <p:embeddedFont>
      <p:font typeface="Roboto" panose="020F0502020204030204" pitchFamily="2" charset="0"/>
      <p:regular r:id="rId30"/>
      <p:bold r:id="rId31"/>
      <p:italic r:id="rId32"/>
      <p:boldItalic r:id="rId3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7C51D1A-80FB-471D-7B56-4E50B7CA649E}" v="45" dt="2025-12-03T16:10:36.869"/>
  </p1510:revLst>
</p1510:revInfo>
</file>

<file path=ppt/tableStyles.xml><?xml version="1.0" encoding="utf-8"?>
<a:tblStyleLst xmlns:a="http://schemas.openxmlformats.org/drawingml/2006/main" def="{C6A1C1CC-9245-49A4-8EA1-406ACB79E9CC}">
  <a:tblStyle styleId="{C6A1C1CC-9245-49A4-8EA1-406ACB79E9CC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33" Type="http://schemas.openxmlformats.org/officeDocument/2006/relationships/font" Target="fonts/font8.fntdata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7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74C225F4-A308-B4FB-10F1-BFEE02810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5:notes">
            <a:extLst>
              <a:ext uri="{FF2B5EF4-FFF2-40B4-BE49-F238E27FC236}">
                <a16:creationId xmlns:a16="http://schemas.microsoft.com/office/drawing/2014/main" id="{25ACB636-D798-ECDF-C643-36797AF887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5:notes">
            <a:extLst>
              <a:ext uri="{FF2B5EF4-FFF2-40B4-BE49-F238E27FC236}">
                <a16:creationId xmlns:a16="http://schemas.microsoft.com/office/drawing/2014/main" id="{BAFC9860-6065-CFE8-18B0-73B42F96F7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307506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636BEC50-51F7-E616-0F1A-4BC412256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5:notes">
            <a:extLst>
              <a:ext uri="{FF2B5EF4-FFF2-40B4-BE49-F238E27FC236}">
                <a16:creationId xmlns:a16="http://schemas.microsoft.com/office/drawing/2014/main" id="{DB2FFC5C-A54B-DDEF-29E5-1C4D9ED60B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5:notes">
            <a:extLst>
              <a:ext uri="{FF2B5EF4-FFF2-40B4-BE49-F238E27FC236}">
                <a16:creationId xmlns:a16="http://schemas.microsoft.com/office/drawing/2014/main" id="{5CEBF976-2336-8275-9266-8F11EB5AEF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65685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acece6044c_0_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g3acece6044c_0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3acece6044c_0_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g3acece6044c_0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3acece6044c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0" name="Google Shape;340;g3acece6044c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6" name="Google Shape;376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1" name="Google Shape;39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1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1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2230516" y="2039242"/>
            <a:ext cx="7730966" cy="714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rgbClr val="004D40"/>
                </a:solidFill>
                <a:latin typeface="Roboto"/>
                <a:ea typeface="Roboto"/>
                <a:cs typeface="Roboto"/>
                <a:sym typeface="Roboto"/>
              </a:rPr>
              <a:t>Comparative Data Analysis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2414587" y="3020317"/>
            <a:ext cx="7730966" cy="51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546E7A"/>
                </a:solidFill>
                <a:latin typeface="Open Sans"/>
                <a:ea typeface="Open Sans"/>
                <a:cs typeface="Open Sans"/>
                <a:sym typeface="Open Sans"/>
              </a:rPr>
              <a:t>Global Climate </a:t>
            </a:r>
            <a:r>
              <a:rPr lang="en-US" sz="2100" b="0" i="0" u="none" strike="noStrike" cap="none">
                <a:solidFill>
                  <a:srgbClr val="546E7A"/>
                </a:solidFill>
                <a:latin typeface="Open Sans"/>
                <a:ea typeface="Open Sans"/>
                <a:cs typeface="Open Sans"/>
                <a:sym typeface="Open Sans"/>
              </a:rPr>
              <a:t>Change, Taxi </a:t>
            </a:r>
            <a:r>
              <a:rPr lang="en-US" sz="2100" b="0" i="0" u="none" strike="noStrike" cap="none" dirty="0">
                <a:solidFill>
                  <a:srgbClr val="546E7A"/>
                </a:solidFill>
                <a:latin typeface="Open Sans"/>
                <a:ea typeface="Open Sans"/>
                <a:cs typeface="Open Sans"/>
                <a:sym typeface="Open Sans"/>
              </a:rPr>
              <a:t>Transport Data &amp; Flight prices</a:t>
            </a:r>
            <a:endParaRPr dirty="0"/>
          </a:p>
        </p:txBody>
      </p:sp>
      <p:sp>
        <p:nvSpPr>
          <p:cNvPr id="87" name="Google Shape;87;p13"/>
          <p:cNvSpPr txBox="1"/>
          <p:nvPr/>
        </p:nvSpPr>
        <p:spPr>
          <a:xfrm>
            <a:off x="2414587" y="3828008"/>
            <a:ext cx="73629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Python Final Project: Promise Jameson, </a:t>
            </a:r>
            <a:r>
              <a:rPr lang="en-US" sz="1500" b="1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Joel Ogungbola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2414587" y="4323308"/>
            <a:ext cx="73628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Analysis | Normalization | Big Data Performance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974896"/>
            <a:ext cx="3492400" cy="2314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650" y="974896"/>
            <a:ext cx="3492549" cy="2314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7950" y="990957"/>
            <a:ext cx="3492400" cy="231457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4"/>
          <p:cNvSpPr txBox="1"/>
          <p:nvPr/>
        </p:nvSpPr>
        <p:spPr>
          <a:xfrm>
            <a:off x="684214" y="1196960"/>
            <a:ext cx="32670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C62828"/>
                </a:solidFill>
                <a:latin typeface="Roboto"/>
                <a:ea typeface="Roboto"/>
                <a:cs typeface="Roboto"/>
                <a:sym typeface="Roboto"/>
              </a:rPr>
              <a:t>Dataset 1: Climate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762000" y="1661254"/>
            <a:ext cx="31113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Size:</a:t>
            </a: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 Small (~1 MB)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778061" y="2060188"/>
            <a:ext cx="31113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Tools:</a:t>
            </a: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 Pandas, NumPy, Matplotlib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762000" y="2523367"/>
            <a:ext cx="31113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Goal:</a:t>
            </a: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 Wrangling, 3NF, Visualization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4462362" y="1164838"/>
            <a:ext cx="32670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B8C00"/>
                </a:solidFill>
                <a:latin typeface="Roboto"/>
                <a:ea typeface="Roboto"/>
                <a:cs typeface="Roboto"/>
                <a:sym typeface="Roboto"/>
              </a:rPr>
              <a:t>Dataset 2: Medium (NYC Taxi)</a:t>
            </a:r>
            <a:endParaRPr/>
          </a:p>
        </p:txBody>
      </p:sp>
      <p:sp>
        <p:nvSpPr>
          <p:cNvPr id="102" name="Google Shape;102;p14"/>
          <p:cNvSpPr txBox="1"/>
          <p:nvPr/>
        </p:nvSpPr>
        <p:spPr>
          <a:xfrm>
            <a:off x="4540150" y="1645193"/>
            <a:ext cx="31116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Size:</a:t>
            </a: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 Medium (~5 GB)</a:t>
            </a:r>
            <a:endParaRPr/>
          </a:p>
        </p:txBody>
      </p:sp>
      <p:sp>
        <p:nvSpPr>
          <p:cNvPr id="103" name="Google Shape;103;p14"/>
          <p:cNvSpPr txBox="1"/>
          <p:nvPr/>
        </p:nvSpPr>
        <p:spPr>
          <a:xfrm>
            <a:off x="4540150" y="2044127"/>
            <a:ext cx="31116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Tools:</a:t>
            </a: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 Pandas, PySpark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4540150" y="2539427"/>
            <a:ext cx="31116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Goal:</a:t>
            </a: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 Initial Speed Comparison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8240665" y="1180899"/>
            <a:ext cx="32670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1565C0"/>
                </a:solidFill>
                <a:latin typeface="Roboto"/>
                <a:ea typeface="Roboto"/>
                <a:cs typeface="Roboto"/>
                <a:sym typeface="Roboto"/>
              </a:rPr>
              <a:t>Dataset 3:</a:t>
            </a:r>
            <a:r>
              <a:rPr lang="en-US" sz="1404" b="1">
                <a:solidFill>
                  <a:srgbClr val="1565C0"/>
                </a:solidFill>
                <a:latin typeface="Roboto"/>
                <a:ea typeface="Roboto"/>
                <a:cs typeface="Roboto"/>
                <a:sym typeface="Roboto"/>
              </a:rPr>
              <a:t> Flight prices</a:t>
            </a:r>
            <a:endParaRPr/>
          </a:p>
        </p:txBody>
      </p:sp>
      <p:sp>
        <p:nvSpPr>
          <p:cNvPr id="106" name="Google Shape;106;p14"/>
          <p:cNvSpPr txBox="1"/>
          <p:nvPr/>
        </p:nvSpPr>
        <p:spPr>
          <a:xfrm>
            <a:off x="8318450" y="1645193"/>
            <a:ext cx="31113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Size:</a:t>
            </a: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 Massive (&gt;30 GB)</a:t>
            </a:r>
            <a:endParaRPr/>
          </a:p>
        </p:txBody>
      </p:sp>
      <p:sp>
        <p:nvSpPr>
          <p:cNvPr id="107" name="Google Shape;107;p14"/>
          <p:cNvSpPr txBox="1"/>
          <p:nvPr/>
        </p:nvSpPr>
        <p:spPr>
          <a:xfrm>
            <a:off x="8318450" y="2044127"/>
            <a:ext cx="31113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Tools:</a:t>
            </a: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 Pandas, PySpark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8318450" y="2523367"/>
            <a:ext cx="31113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Goal:</a:t>
            </a: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 Real-World Scalability Test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571500" y="260878"/>
            <a:ext cx="116016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4D40"/>
                </a:solidFill>
                <a:latin typeface="Roboto"/>
                <a:ea typeface="Roboto"/>
                <a:cs typeface="Roboto"/>
                <a:sym typeface="Roboto"/>
              </a:rPr>
              <a:t>Project Scope &amp; Datasets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571500" y="195921"/>
            <a:ext cx="11049000" cy="28500"/>
          </a:xfrm>
          <a:prstGeom prst="rect">
            <a:avLst/>
          </a:prstGeom>
          <a:solidFill>
            <a:srgbClr val="4DB6A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1" name="Google Shape;111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587713" y="3013301"/>
            <a:ext cx="5286375" cy="381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5"/>
          <p:cNvSpPr txBox="1"/>
          <p:nvPr/>
        </p:nvSpPr>
        <p:spPr>
          <a:xfrm>
            <a:off x="762000" y="833437"/>
            <a:ext cx="480060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4D40"/>
                </a:solidFill>
                <a:latin typeface="Roboto"/>
                <a:ea typeface="Roboto"/>
                <a:cs typeface="Roboto"/>
                <a:sym typeface="Roboto"/>
              </a:rPr>
              <a:t>Data Modeling: 3NF</a:t>
            </a:r>
            <a:endParaRPr/>
          </a:p>
        </p:txBody>
      </p:sp>
      <p:sp>
        <p:nvSpPr>
          <p:cNvPr id="118" name="Google Shape;118;p15"/>
          <p:cNvSpPr/>
          <p:nvPr/>
        </p:nvSpPr>
        <p:spPr>
          <a:xfrm>
            <a:off x="762000" y="1443037"/>
            <a:ext cx="4572000" cy="28575"/>
          </a:xfrm>
          <a:prstGeom prst="rect">
            <a:avLst/>
          </a:prstGeom>
          <a:solidFill>
            <a:srgbClr val="4DB6A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5"/>
          <p:cNvSpPr txBox="1"/>
          <p:nvPr/>
        </p:nvSpPr>
        <p:spPr>
          <a:xfrm>
            <a:off x="762000" y="2043112"/>
            <a:ext cx="4572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To ensure data integrity and reduce redundancy, the Climate dataset was normalized to the Third Normal Form (3NF).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762000" y="3624262"/>
            <a:ext cx="4572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Process:</a:t>
            </a:r>
            <a:endParaRPr/>
          </a:p>
        </p:txBody>
      </p:sp>
      <p:sp>
        <p:nvSpPr>
          <p:cNvPr id="121" name="Google Shape;121;p15"/>
          <p:cNvSpPr txBox="1"/>
          <p:nvPr/>
        </p:nvSpPr>
        <p:spPr>
          <a:xfrm>
            <a:off x="762000" y="5529262"/>
            <a:ext cx="4572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>
                <a:solidFill>
                  <a:srgbClr val="666666"/>
                </a:solidFill>
                <a:latin typeface="Open Sans"/>
                <a:ea typeface="Open Sans"/>
                <a:cs typeface="Open Sans"/>
                <a:sym typeface="Open Sans"/>
              </a:rPr>
              <a:t>Modeled using Visual Paradigm.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1066800" y="4119562"/>
            <a:ext cx="762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123" name="Google Shape;123;p15"/>
          <p:cNvSpPr txBox="1"/>
          <p:nvPr/>
        </p:nvSpPr>
        <p:spPr>
          <a:xfrm>
            <a:off x="1143000" y="4119562"/>
            <a:ext cx="4191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Eliminated partial dependencies.</a:t>
            </a:r>
            <a:endParaRPr/>
          </a:p>
        </p:txBody>
      </p:sp>
      <p:sp>
        <p:nvSpPr>
          <p:cNvPr id="124" name="Google Shape;124;p15"/>
          <p:cNvSpPr txBox="1"/>
          <p:nvPr/>
        </p:nvSpPr>
        <p:spPr>
          <a:xfrm>
            <a:off x="1066800" y="4424362"/>
            <a:ext cx="762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125" name="Google Shape;125;p15"/>
          <p:cNvSpPr txBox="1"/>
          <p:nvPr/>
        </p:nvSpPr>
        <p:spPr>
          <a:xfrm>
            <a:off x="1143000" y="4424362"/>
            <a:ext cx="4191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Removed transitive dependencies (e.g., separating </a:t>
            </a:r>
            <a:r>
              <a:rPr lang="en-US" sz="1500" b="0" i="1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Country</a:t>
            </a: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 and </a:t>
            </a:r>
            <a:r>
              <a:rPr lang="en-US" sz="1500" b="0" i="1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Continent</a:t>
            </a: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 details from the main </a:t>
            </a:r>
            <a:r>
              <a:rPr lang="en-US" sz="1500" b="0" i="1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Emissions</a:t>
            </a: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 fact table).</a:t>
            </a:r>
            <a:endParaRPr/>
          </a:p>
        </p:txBody>
      </p:sp>
      <p:pic>
        <p:nvPicPr>
          <p:cNvPr id="126" name="Google Shape;126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58758" y="1857375"/>
            <a:ext cx="7247799" cy="4123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32" name="Google Shape;132;p16"/>
          <p:cNvGraphicFramePr/>
          <p:nvPr/>
        </p:nvGraphicFramePr>
        <p:xfrm>
          <a:off x="1685925" y="2071687"/>
          <a:ext cx="8659525" cy="4431000"/>
        </p:xfrm>
        <a:graphic>
          <a:graphicData uri="http://schemas.openxmlformats.org/drawingml/2006/table">
            <a:tbl>
              <a:tblPr firstRow="1" bandRow="1">
                <a:noFill/>
                <a:tableStyleId>{C6A1C1CC-9245-49A4-8EA1-406ACB79E9CC}</a:tableStyleId>
              </a:tblPr>
              <a:tblGrid>
                <a:gridCol w="212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35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0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33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Variable Name</a:t>
                      </a:r>
                      <a:r>
                        <a:rPr lang="en-US" sz="1500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4D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Data Type</a:t>
                      </a:r>
                      <a:endParaRPr sz="15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4D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Description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4D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3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37415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Year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7415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Integer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7415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The calendar year of observation (2020-2025).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3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37415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Continent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solidFill>
                            <a:srgbClr val="37415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Varchar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7415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Geographical region (e.g., Asia, Europe).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3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37415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Avg_Temperature_C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7415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Float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7415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Average annual temperature in Celsius.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3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37415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CO2_Emissions_Mt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7415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Float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7415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Total Carbon Dioxide emissions in Million Tonnes.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3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37415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Climate_Risk_Index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7415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Integer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7415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Composite score (0-100) indicating vulnerability.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33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>
                          <a:solidFill>
                            <a:srgbClr val="37415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Sea Level Rise</a:t>
                      </a:r>
                      <a:endParaRPr sz="1500" b="1" i="0" u="none" strike="noStrike" cap="none">
                        <a:solidFill>
                          <a:srgbClr val="37415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solidFill>
                            <a:srgbClr val="37415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Integer</a:t>
                      </a:r>
                      <a:endParaRPr sz="1500" b="0" i="0" u="none" strike="noStrike" cap="none">
                        <a:solidFill>
                          <a:srgbClr val="37415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solidFill>
                            <a:srgbClr val="37415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Tracks the rate at which the Sea Level rises</a:t>
                      </a:r>
                      <a:endParaRPr sz="1500" b="0" i="0" u="none" strike="noStrike" cap="none">
                        <a:solidFill>
                          <a:srgbClr val="37415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33" name="Google Shape;133;p16"/>
          <p:cNvSpPr/>
          <p:nvPr/>
        </p:nvSpPr>
        <p:spPr>
          <a:xfrm>
            <a:off x="1685925" y="3324225"/>
            <a:ext cx="21621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6"/>
          <p:cNvSpPr/>
          <p:nvPr/>
        </p:nvSpPr>
        <p:spPr>
          <a:xfrm>
            <a:off x="3848100" y="3324225"/>
            <a:ext cx="19716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6"/>
          <p:cNvSpPr/>
          <p:nvPr/>
        </p:nvSpPr>
        <p:spPr>
          <a:xfrm>
            <a:off x="5819775" y="3324225"/>
            <a:ext cx="46863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6"/>
          <p:cNvSpPr/>
          <p:nvPr/>
        </p:nvSpPr>
        <p:spPr>
          <a:xfrm>
            <a:off x="1685925" y="3943350"/>
            <a:ext cx="21621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6"/>
          <p:cNvSpPr/>
          <p:nvPr/>
        </p:nvSpPr>
        <p:spPr>
          <a:xfrm>
            <a:off x="3848100" y="3943350"/>
            <a:ext cx="19716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6"/>
          <p:cNvSpPr/>
          <p:nvPr/>
        </p:nvSpPr>
        <p:spPr>
          <a:xfrm>
            <a:off x="5819775" y="3943350"/>
            <a:ext cx="46863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6"/>
          <p:cNvSpPr/>
          <p:nvPr/>
        </p:nvSpPr>
        <p:spPr>
          <a:xfrm>
            <a:off x="1685925" y="4562475"/>
            <a:ext cx="21621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6"/>
          <p:cNvSpPr/>
          <p:nvPr/>
        </p:nvSpPr>
        <p:spPr>
          <a:xfrm>
            <a:off x="3848100" y="4562475"/>
            <a:ext cx="19716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6"/>
          <p:cNvSpPr/>
          <p:nvPr/>
        </p:nvSpPr>
        <p:spPr>
          <a:xfrm>
            <a:off x="5819775" y="4562475"/>
            <a:ext cx="46863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6"/>
          <p:cNvSpPr/>
          <p:nvPr/>
        </p:nvSpPr>
        <p:spPr>
          <a:xfrm>
            <a:off x="1685925" y="5181600"/>
            <a:ext cx="21621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6"/>
          <p:cNvSpPr/>
          <p:nvPr/>
        </p:nvSpPr>
        <p:spPr>
          <a:xfrm>
            <a:off x="3848100" y="5181600"/>
            <a:ext cx="19716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6"/>
          <p:cNvSpPr/>
          <p:nvPr/>
        </p:nvSpPr>
        <p:spPr>
          <a:xfrm>
            <a:off x="5819775" y="5181600"/>
            <a:ext cx="46863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6"/>
          <p:cNvSpPr txBox="1"/>
          <p:nvPr/>
        </p:nvSpPr>
        <p:spPr>
          <a:xfrm>
            <a:off x="571500" y="571500"/>
            <a:ext cx="1160145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4D40"/>
                </a:solidFill>
                <a:latin typeface="Roboto"/>
                <a:ea typeface="Roboto"/>
                <a:cs typeface="Roboto"/>
                <a:sym typeface="Roboto"/>
              </a:rPr>
              <a:t>Data Dictionary: Climate Dataset</a:t>
            </a:r>
            <a:endParaRPr/>
          </a:p>
        </p:txBody>
      </p:sp>
      <p:sp>
        <p:nvSpPr>
          <p:cNvPr id="146" name="Google Shape;146;p16"/>
          <p:cNvSpPr/>
          <p:nvPr/>
        </p:nvSpPr>
        <p:spPr>
          <a:xfrm>
            <a:off x="571500" y="1181100"/>
            <a:ext cx="11049000" cy="28575"/>
          </a:xfrm>
          <a:prstGeom prst="rect">
            <a:avLst/>
          </a:prstGeom>
          <a:solidFill>
            <a:srgbClr val="4DB6A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1" name="Google Shape;151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181225"/>
            <a:ext cx="3492549" cy="3514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799" y="2181225"/>
            <a:ext cx="3492549" cy="3514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2181225"/>
            <a:ext cx="3492549" cy="3514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423374" y="2476500"/>
            <a:ext cx="2901999" cy="61912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7"/>
          <p:cNvSpPr txBox="1"/>
          <p:nvPr/>
        </p:nvSpPr>
        <p:spPr>
          <a:xfrm>
            <a:off x="794225" y="3286125"/>
            <a:ext cx="3047099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4D40"/>
                </a:solidFill>
                <a:latin typeface="Roboto"/>
                <a:ea typeface="Roboto"/>
                <a:cs typeface="Roboto"/>
                <a:sym typeface="Roboto"/>
              </a:rPr>
              <a:t>Data Wrangling</a:t>
            </a:r>
            <a:endParaRPr/>
          </a:p>
        </p:txBody>
      </p:sp>
      <p:sp>
        <p:nvSpPr>
          <p:cNvPr id="157" name="Google Shape;157;p17"/>
          <p:cNvSpPr txBox="1"/>
          <p:nvPr/>
        </p:nvSpPr>
        <p:spPr>
          <a:xfrm>
            <a:off x="866775" y="3686175"/>
            <a:ext cx="2901999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Implemented custom functions to detect and impute missing values (mean strategy) and categorized risk indices using conditional logic.</a:t>
            </a:r>
            <a:endParaRPr/>
          </a:p>
        </p:txBody>
      </p:sp>
      <p:sp>
        <p:nvSpPr>
          <p:cNvPr id="158" name="Google Shape;158;p17"/>
          <p:cNvSpPr txBox="1"/>
          <p:nvPr/>
        </p:nvSpPr>
        <p:spPr>
          <a:xfrm>
            <a:off x="4572524" y="3286125"/>
            <a:ext cx="3047099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4D40"/>
                </a:solidFill>
                <a:latin typeface="Roboto"/>
                <a:ea typeface="Roboto"/>
                <a:cs typeface="Roboto"/>
                <a:sym typeface="Roboto"/>
              </a:rPr>
              <a:t>OOP &amp; NumPy</a:t>
            </a:r>
            <a:endParaRPr/>
          </a:p>
        </p:txBody>
      </p:sp>
      <p:sp>
        <p:nvSpPr>
          <p:cNvPr id="159" name="Google Shape;159;p17"/>
          <p:cNvSpPr txBox="1"/>
          <p:nvPr/>
        </p:nvSpPr>
        <p:spPr>
          <a:xfrm>
            <a:off x="4645074" y="3686175"/>
            <a:ext cx="2901999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Utilized NumPy arrays for high-performance statistical calculations (Mean, Std Dev) and Object-Oriented principles for code structure.</a:t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8350824" y="3286125"/>
            <a:ext cx="3047099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4D40"/>
                </a:solidFill>
                <a:latin typeface="Roboto"/>
                <a:ea typeface="Roboto"/>
                <a:cs typeface="Roboto"/>
                <a:sym typeface="Roboto"/>
              </a:rPr>
              <a:t>Analysis</a:t>
            </a:r>
            <a:endParaRPr/>
          </a:p>
        </p:txBody>
      </p:sp>
      <p:sp>
        <p:nvSpPr>
          <p:cNvPr id="161" name="Google Shape;161;p17"/>
          <p:cNvSpPr txBox="1"/>
          <p:nvPr/>
        </p:nvSpPr>
        <p:spPr>
          <a:xfrm>
            <a:off x="8423374" y="3686175"/>
            <a:ext cx="2901999" cy="123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Leveraged Pandas groupby() and sort_values() to aggregate metrics by continent and identify high-risk regions.</a:t>
            </a:r>
            <a:endParaRPr/>
          </a:p>
        </p:txBody>
      </p:sp>
      <p:pic>
        <p:nvPicPr>
          <p:cNvPr id="162" name="Google Shape;162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2089100" y="2562225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5810250" y="2562225"/>
            <a:ext cx="5715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7"/>
          <p:cNvSpPr txBox="1"/>
          <p:nvPr/>
        </p:nvSpPr>
        <p:spPr>
          <a:xfrm>
            <a:off x="571500" y="571500"/>
            <a:ext cx="1160145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4D40"/>
                </a:solidFill>
                <a:latin typeface="Roboto"/>
                <a:ea typeface="Roboto"/>
                <a:cs typeface="Roboto"/>
                <a:sym typeface="Roboto"/>
              </a:rPr>
              <a:t>Python &amp; Pandas Proficiency</a:t>
            </a:r>
            <a:endParaRPr/>
          </a:p>
        </p:txBody>
      </p:sp>
      <p:sp>
        <p:nvSpPr>
          <p:cNvPr id="165" name="Google Shape;165;p17"/>
          <p:cNvSpPr/>
          <p:nvPr/>
        </p:nvSpPr>
        <p:spPr>
          <a:xfrm>
            <a:off x="571500" y="1181100"/>
            <a:ext cx="11049000" cy="28575"/>
          </a:xfrm>
          <a:prstGeom prst="rect">
            <a:avLst/>
          </a:prstGeom>
          <a:solidFill>
            <a:srgbClr val="4DB6A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6" name="Google Shape;166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528168" y="2586138"/>
            <a:ext cx="571500" cy="4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0">
          <a:extLst>
            <a:ext uri="{FF2B5EF4-FFF2-40B4-BE49-F238E27FC236}">
              <a16:creationId xmlns:a16="http://schemas.microsoft.com/office/drawing/2014/main" id="{05473DC2-FDA3-1841-E213-60F0118DD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1" name="Google Shape;151;p17" descr="image.png">
            <a:extLst>
              <a:ext uri="{FF2B5EF4-FFF2-40B4-BE49-F238E27FC236}">
                <a16:creationId xmlns:a16="http://schemas.microsoft.com/office/drawing/2014/main" id="{2EE9AFE4-E50A-8A04-A0B7-6325ACAF665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7">
            <a:extLst>
              <a:ext uri="{FF2B5EF4-FFF2-40B4-BE49-F238E27FC236}">
                <a16:creationId xmlns:a16="http://schemas.microsoft.com/office/drawing/2014/main" id="{D69A33CB-0797-2F7B-FB11-B29B184E8FD1}"/>
              </a:ext>
            </a:extLst>
          </p:cNvPr>
          <p:cNvSpPr txBox="1"/>
          <p:nvPr/>
        </p:nvSpPr>
        <p:spPr>
          <a:xfrm>
            <a:off x="571500" y="571500"/>
            <a:ext cx="1160145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4D40"/>
                </a:solidFill>
                <a:latin typeface="Roboto"/>
                <a:ea typeface="Roboto"/>
                <a:cs typeface="Roboto"/>
                <a:sym typeface="Roboto"/>
              </a:rPr>
              <a:t>Python &amp; Pandas Proficiency</a:t>
            </a:r>
            <a:endParaRPr/>
          </a:p>
        </p:txBody>
      </p:sp>
      <p:sp>
        <p:nvSpPr>
          <p:cNvPr id="165" name="Google Shape;165;p17">
            <a:extLst>
              <a:ext uri="{FF2B5EF4-FFF2-40B4-BE49-F238E27FC236}">
                <a16:creationId xmlns:a16="http://schemas.microsoft.com/office/drawing/2014/main" id="{21F5EB01-D8C4-EEFF-5AFD-C0EDD5617145}"/>
              </a:ext>
            </a:extLst>
          </p:cNvPr>
          <p:cNvSpPr/>
          <p:nvPr/>
        </p:nvSpPr>
        <p:spPr>
          <a:xfrm>
            <a:off x="571500" y="1181100"/>
            <a:ext cx="11049000" cy="28575"/>
          </a:xfrm>
          <a:prstGeom prst="rect">
            <a:avLst/>
          </a:prstGeom>
          <a:solidFill>
            <a:srgbClr val="4DB6A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C992488E-15F7-348F-EDAD-629CE8BF14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474" y="1285299"/>
            <a:ext cx="5087748" cy="5361544"/>
          </a:xfrm>
          <a:prstGeom prst="rect">
            <a:avLst/>
          </a:prstGeom>
        </p:spPr>
      </p:pic>
      <p:pic>
        <p:nvPicPr>
          <p:cNvPr id="3" name="Picture 2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DF6D1D67-8789-CEC2-F291-4AC626DF60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522" y="1285301"/>
            <a:ext cx="5311291" cy="5361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0572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0">
          <a:extLst>
            <a:ext uri="{FF2B5EF4-FFF2-40B4-BE49-F238E27FC236}">
              <a16:creationId xmlns:a16="http://schemas.microsoft.com/office/drawing/2014/main" id="{29475163-3BF4-5588-4DAA-723ECEEB8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1" name="Google Shape;151;p17" descr="image.png">
            <a:extLst>
              <a:ext uri="{FF2B5EF4-FFF2-40B4-BE49-F238E27FC236}">
                <a16:creationId xmlns:a16="http://schemas.microsoft.com/office/drawing/2014/main" id="{7B6EAD32-8B8F-08B0-A4BF-77524AAE440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7">
            <a:extLst>
              <a:ext uri="{FF2B5EF4-FFF2-40B4-BE49-F238E27FC236}">
                <a16:creationId xmlns:a16="http://schemas.microsoft.com/office/drawing/2014/main" id="{B93E77D2-9007-0569-FDC8-7DF4F861DDF0}"/>
              </a:ext>
            </a:extLst>
          </p:cNvPr>
          <p:cNvSpPr txBox="1"/>
          <p:nvPr/>
        </p:nvSpPr>
        <p:spPr>
          <a:xfrm>
            <a:off x="571500" y="571500"/>
            <a:ext cx="1160145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4D40"/>
                </a:solidFill>
                <a:latin typeface="Roboto"/>
                <a:ea typeface="Roboto"/>
                <a:cs typeface="Roboto"/>
                <a:sym typeface="Roboto"/>
              </a:rPr>
              <a:t>Python &amp; Pandas Proficiency</a:t>
            </a:r>
            <a:endParaRPr/>
          </a:p>
        </p:txBody>
      </p:sp>
      <p:sp>
        <p:nvSpPr>
          <p:cNvPr id="165" name="Google Shape;165;p17">
            <a:extLst>
              <a:ext uri="{FF2B5EF4-FFF2-40B4-BE49-F238E27FC236}">
                <a16:creationId xmlns:a16="http://schemas.microsoft.com/office/drawing/2014/main" id="{AC1B6B20-8B87-99EA-AE6D-BE9A561F31EC}"/>
              </a:ext>
            </a:extLst>
          </p:cNvPr>
          <p:cNvSpPr/>
          <p:nvPr/>
        </p:nvSpPr>
        <p:spPr>
          <a:xfrm>
            <a:off x="571500" y="1181100"/>
            <a:ext cx="11049000" cy="28575"/>
          </a:xfrm>
          <a:prstGeom prst="rect">
            <a:avLst/>
          </a:prstGeom>
          <a:solidFill>
            <a:srgbClr val="4DB6A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67F89411-9D52-E67B-10C7-A0B91D9237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3760" y="1303663"/>
            <a:ext cx="6104480" cy="5434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89599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590675"/>
            <a:ext cx="11049000" cy="4695825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18"/>
          <p:cNvSpPr txBox="1"/>
          <p:nvPr/>
        </p:nvSpPr>
        <p:spPr>
          <a:xfrm>
            <a:off x="1604962" y="5405437"/>
            <a:ext cx="89820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Asia leads in total emissions, driven by industrial output, while Oceania maintains the lowest footprint.</a:t>
            </a:r>
            <a:endParaRPr/>
          </a:p>
        </p:txBody>
      </p:sp>
      <p:sp>
        <p:nvSpPr>
          <p:cNvPr id="174" name="Google Shape;174;p18"/>
          <p:cNvSpPr txBox="1"/>
          <p:nvPr/>
        </p:nvSpPr>
        <p:spPr>
          <a:xfrm>
            <a:off x="571500" y="571500"/>
            <a:ext cx="1160145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4D40"/>
                </a:solidFill>
                <a:latin typeface="Roboto"/>
                <a:ea typeface="Roboto"/>
                <a:cs typeface="Roboto"/>
                <a:sym typeface="Roboto"/>
              </a:rPr>
              <a:t>Avg. CO2 Emissions by Continent (2020-2025)</a:t>
            </a:r>
            <a:endParaRPr/>
          </a:p>
        </p:txBody>
      </p:sp>
      <p:sp>
        <p:nvSpPr>
          <p:cNvPr id="175" name="Google Shape;175;p18"/>
          <p:cNvSpPr/>
          <p:nvPr/>
        </p:nvSpPr>
        <p:spPr>
          <a:xfrm>
            <a:off x="571500" y="1181100"/>
            <a:ext cx="11049000" cy="28575"/>
          </a:xfrm>
          <a:prstGeom prst="rect">
            <a:avLst/>
          </a:prstGeom>
          <a:solidFill>
            <a:srgbClr val="4DB6A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0" name="Google Shape;180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19"/>
          <p:cNvSpPr txBox="1"/>
          <p:nvPr/>
        </p:nvSpPr>
        <p:spPr>
          <a:xfrm>
            <a:off x="2667000" y="5538787"/>
            <a:ext cx="6858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High-risk regions show a steeper temperature gradient over the 5-year period.</a:t>
            </a:r>
            <a:endParaRPr/>
          </a:p>
        </p:txBody>
      </p:sp>
      <p:sp>
        <p:nvSpPr>
          <p:cNvPr id="182" name="Google Shape;182;p19"/>
          <p:cNvSpPr txBox="1"/>
          <p:nvPr/>
        </p:nvSpPr>
        <p:spPr>
          <a:xfrm>
            <a:off x="571500" y="571500"/>
            <a:ext cx="1160145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4D40"/>
                </a:solidFill>
                <a:latin typeface="Roboto"/>
                <a:ea typeface="Roboto"/>
                <a:cs typeface="Roboto"/>
                <a:sym typeface="Roboto"/>
              </a:rPr>
              <a:t>Global Temperature Trends (Top 3 High-Risk Regions)</a:t>
            </a:r>
            <a:endParaRPr/>
          </a:p>
        </p:txBody>
      </p:sp>
      <p:sp>
        <p:nvSpPr>
          <p:cNvPr id="183" name="Google Shape;183;p19"/>
          <p:cNvSpPr/>
          <p:nvPr/>
        </p:nvSpPr>
        <p:spPr>
          <a:xfrm>
            <a:off x="571500" y="1181100"/>
            <a:ext cx="11049000" cy="28575"/>
          </a:xfrm>
          <a:prstGeom prst="rect">
            <a:avLst/>
          </a:prstGeom>
          <a:solidFill>
            <a:srgbClr val="4DB6A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4" name="Google Shape;184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352165" y="1314680"/>
            <a:ext cx="7175309" cy="422307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" name="Google Shape;189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0" name="Google Shape;190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305050"/>
            <a:ext cx="5286375" cy="3267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152650"/>
            <a:ext cx="5286375" cy="3571875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20"/>
          <p:cNvSpPr txBox="1"/>
          <p:nvPr/>
        </p:nvSpPr>
        <p:spPr>
          <a:xfrm>
            <a:off x="1000125" y="2686050"/>
            <a:ext cx="4700587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1B5E20"/>
                </a:solidFill>
                <a:latin typeface="Roboto"/>
                <a:ea typeface="Roboto"/>
                <a:cs typeface="Roboto"/>
                <a:sym typeface="Roboto"/>
              </a:rPr>
              <a:t>Risk Management</a:t>
            </a:r>
            <a:endParaRPr/>
          </a:p>
        </p:txBody>
      </p:sp>
      <p:sp>
        <p:nvSpPr>
          <p:cNvPr id="193" name="Google Shape;193;p20"/>
          <p:cNvSpPr txBox="1"/>
          <p:nvPr/>
        </p:nvSpPr>
        <p:spPr>
          <a:xfrm>
            <a:off x="1000125" y="3086100"/>
            <a:ext cx="44767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Q:</a:t>
            </a: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 Which regions require immediate infrastructure investment?</a:t>
            </a:r>
            <a:endParaRPr/>
          </a:p>
        </p:txBody>
      </p:sp>
      <p:sp>
        <p:nvSpPr>
          <p:cNvPr id="194" name="Google Shape;194;p20"/>
          <p:cNvSpPr txBox="1"/>
          <p:nvPr/>
        </p:nvSpPr>
        <p:spPr>
          <a:xfrm>
            <a:off x="1000125" y="4086225"/>
            <a:ext cx="44767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A:</a:t>
            </a: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 Regions with a Risk Index &gt; 80 (e.g., parts of Africa and Asia) show the highest vulnerability to sea-level rise and should be prioritized.</a:t>
            </a:r>
            <a:endParaRPr/>
          </a:p>
        </p:txBody>
      </p:sp>
      <p:sp>
        <p:nvSpPr>
          <p:cNvPr id="195" name="Google Shape;195;p20"/>
          <p:cNvSpPr txBox="1"/>
          <p:nvPr/>
        </p:nvSpPr>
        <p:spPr>
          <a:xfrm>
            <a:off x="6762750" y="2533650"/>
            <a:ext cx="4700587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1B5E20"/>
                </a:solidFill>
                <a:latin typeface="Roboto"/>
                <a:ea typeface="Roboto"/>
                <a:cs typeface="Roboto"/>
                <a:sym typeface="Roboto"/>
              </a:rPr>
              <a:t>Policy Strategy</a:t>
            </a:r>
            <a:endParaRPr/>
          </a:p>
        </p:txBody>
      </p:sp>
      <p:sp>
        <p:nvSpPr>
          <p:cNvPr id="196" name="Google Shape;196;p20"/>
          <p:cNvSpPr txBox="1"/>
          <p:nvPr/>
        </p:nvSpPr>
        <p:spPr>
          <a:xfrm>
            <a:off x="6762750" y="2933700"/>
            <a:ext cx="44767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Q:</a:t>
            </a: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 Is there a correlation between CO2 output and temperature rise?</a:t>
            </a:r>
            <a:endParaRPr/>
          </a:p>
        </p:txBody>
      </p:sp>
      <p:sp>
        <p:nvSpPr>
          <p:cNvPr id="197" name="Google Shape;197;p20"/>
          <p:cNvSpPr txBox="1"/>
          <p:nvPr/>
        </p:nvSpPr>
        <p:spPr>
          <a:xfrm>
            <a:off x="6762750" y="3933825"/>
            <a:ext cx="447675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A:</a:t>
            </a: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 Yes, data indicates a strong positive correlation. Mitigation policies must focus on the top 3 emitting continents to curb global temperature acceleration.</a:t>
            </a:r>
            <a:endParaRPr/>
          </a:p>
        </p:txBody>
      </p:sp>
      <p:sp>
        <p:nvSpPr>
          <p:cNvPr id="198" name="Google Shape;198;p20"/>
          <p:cNvSpPr txBox="1"/>
          <p:nvPr/>
        </p:nvSpPr>
        <p:spPr>
          <a:xfrm>
            <a:off x="571500" y="571500"/>
            <a:ext cx="1160145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4D40"/>
                </a:solidFill>
                <a:latin typeface="Roboto"/>
                <a:ea typeface="Roboto"/>
                <a:cs typeface="Roboto"/>
                <a:sym typeface="Roboto"/>
              </a:rPr>
              <a:t>Strategic Insights (Climate)</a:t>
            </a:r>
            <a:endParaRPr/>
          </a:p>
        </p:txBody>
      </p:sp>
      <p:sp>
        <p:nvSpPr>
          <p:cNvPr id="199" name="Google Shape;199;p20"/>
          <p:cNvSpPr/>
          <p:nvPr/>
        </p:nvSpPr>
        <p:spPr>
          <a:xfrm>
            <a:off x="571500" y="1181100"/>
            <a:ext cx="11049000" cy="28575"/>
          </a:xfrm>
          <a:prstGeom prst="rect">
            <a:avLst/>
          </a:prstGeom>
          <a:solidFill>
            <a:srgbClr val="4DB6A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" name="Google Shape;190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690812"/>
            <a:ext cx="5286375" cy="2495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690812"/>
            <a:ext cx="5286375" cy="2495550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0"/>
          <p:cNvSpPr txBox="1"/>
          <p:nvPr/>
        </p:nvSpPr>
        <p:spPr>
          <a:xfrm>
            <a:off x="1000125" y="3071812"/>
            <a:ext cx="4700587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622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E53935"/>
                </a:solidFill>
                <a:latin typeface="Roboto"/>
                <a:ea typeface="Roboto"/>
                <a:cs typeface="Roboto"/>
                <a:sym typeface="Roboto"/>
              </a:rPr>
              <a:t>Q1: Highest Risk</a:t>
            </a:r>
            <a:endParaRPr/>
          </a:p>
        </p:txBody>
      </p:sp>
      <p:sp>
        <p:nvSpPr>
          <p:cNvPr id="194" name="Google Shape;194;p20"/>
          <p:cNvSpPr txBox="1"/>
          <p:nvPr/>
        </p:nvSpPr>
        <p:spPr>
          <a:xfrm>
            <a:off x="1000125" y="3605212"/>
            <a:ext cx="4476750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Oceania (56.7), Europe (56.3), and Africa (56.1)</a:t>
            </a:r>
            <a:r>
              <a:rPr lang="en-US" sz="135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 face the highest average Climate Risk Indices. Globally, </a:t>
            </a:r>
            <a:r>
              <a:rPr lang="en-US" sz="1350" b="1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45.8%</a:t>
            </a:r>
            <a:r>
              <a:rPr lang="en-US" sz="135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 of all observations fall into the 'High' risk category (Index ≥60), indicating widespread vulnerability.</a:t>
            </a:r>
            <a:endParaRPr/>
          </a:p>
        </p:txBody>
      </p:sp>
      <p:sp>
        <p:nvSpPr>
          <p:cNvPr id="195" name="Google Shape;195;p20"/>
          <p:cNvSpPr txBox="1"/>
          <p:nvPr/>
        </p:nvSpPr>
        <p:spPr>
          <a:xfrm>
            <a:off x="6762750" y="3071812"/>
            <a:ext cx="4700587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432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B8C00"/>
                </a:solidFill>
                <a:latin typeface="Roboto"/>
                <a:ea typeface="Roboto"/>
                <a:cs typeface="Roboto"/>
                <a:sym typeface="Roboto"/>
              </a:rPr>
              <a:t>Q2: CO2 Efficiency</a:t>
            </a:r>
            <a:endParaRPr/>
          </a:p>
        </p:txBody>
      </p:sp>
      <p:sp>
        <p:nvSpPr>
          <p:cNvPr id="196" name="Google Shape;196;p20"/>
          <p:cNvSpPr txBox="1"/>
          <p:nvPr/>
        </p:nvSpPr>
        <p:spPr>
          <a:xfrm>
            <a:off x="6762750" y="3605212"/>
            <a:ext cx="4476750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Asia</a:t>
            </a:r>
            <a:r>
              <a:rPr lang="en-US" sz="135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 has the highest ratio of CO2 Emissions to Climate Risk (10.43). This identifies it as a region where emission reductions could yield the most significant relative impact on the risk profile.</a:t>
            </a:r>
            <a:endParaRPr/>
          </a:p>
        </p:txBody>
      </p:sp>
      <p:pic>
        <p:nvPicPr>
          <p:cNvPr id="197" name="Google Shape;197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000125" y="3081337"/>
            <a:ext cx="180975" cy="178296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2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762750" y="3081337"/>
            <a:ext cx="219075" cy="178296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20"/>
          <p:cNvSpPr txBox="1"/>
          <p:nvPr/>
        </p:nvSpPr>
        <p:spPr>
          <a:xfrm>
            <a:off x="571500" y="571500"/>
            <a:ext cx="1160145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4D40"/>
                </a:solidFill>
                <a:latin typeface="Roboto"/>
                <a:ea typeface="Roboto"/>
                <a:cs typeface="Roboto"/>
                <a:sym typeface="Roboto"/>
              </a:rPr>
              <a:t>1. Risk Prioritization &amp; Allocation</a:t>
            </a:r>
            <a:endParaRPr/>
          </a:p>
        </p:txBody>
      </p:sp>
      <p:sp>
        <p:nvSpPr>
          <p:cNvPr id="200" name="Google Shape;200;p20"/>
          <p:cNvSpPr/>
          <p:nvPr/>
        </p:nvSpPr>
        <p:spPr>
          <a:xfrm>
            <a:off x="571500" y="1181100"/>
            <a:ext cx="11049000" cy="28575"/>
          </a:xfrm>
          <a:prstGeom prst="rect">
            <a:avLst/>
          </a:prstGeom>
          <a:solidFill>
            <a:srgbClr val="4DB6A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" name="Google Shape;205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543175"/>
            <a:ext cx="3492549" cy="2790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799" y="2543175"/>
            <a:ext cx="3492549" cy="2790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2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2543175"/>
            <a:ext cx="3492549" cy="2790825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1"/>
          <p:cNvSpPr txBox="1"/>
          <p:nvPr/>
        </p:nvSpPr>
        <p:spPr>
          <a:xfrm>
            <a:off x="744218" y="3476625"/>
            <a:ext cx="3147112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04D40"/>
                </a:solidFill>
                <a:latin typeface="Roboto"/>
                <a:ea typeface="Roboto"/>
                <a:cs typeface="Roboto"/>
                <a:sym typeface="Roboto"/>
              </a:rPr>
              <a:t>Q3: Global Baseline</a:t>
            </a:r>
            <a:endParaRPr/>
          </a:p>
        </p:txBody>
      </p:sp>
      <p:sp>
        <p:nvSpPr>
          <p:cNvPr id="210" name="Google Shape;210;p21"/>
          <p:cNvSpPr txBox="1"/>
          <p:nvPr/>
        </p:nvSpPr>
        <p:spPr>
          <a:xfrm>
            <a:off x="819150" y="3886200"/>
            <a:ext cx="2997249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Mean CO2 is </a:t>
            </a:r>
            <a:r>
              <a:rPr lang="en-US" sz="1350" b="1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556.83 Mt</a:t>
            </a:r>
            <a:r>
              <a:rPr lang="en-US" sz="135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. A high standard deviation (258.29 Mt) confirms substantial variability, with outliers reaching near 1000 Mt.</a:t>
            </a:r>
            <a:endParaRPr/>
          </a:p>
        </p:txBody>
      </p:sp>
      <p:sp>
        <p:nvSpPr>
          <p:cNvPr id="211" name="Google Shape;211;p21"/>
          <p:cNvSpPr txBox="1"/>
          <p:nvPr/>
        </p:nvSpPr>
        <p:spPr>
          <a:xfrm>
            <a:off x="4522518" y="3476625"/>
            <a:ext cx="3147112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04D40"/>
                </a:solidFill>
                <a:latin typeface="Roboto"/>
                <a:ea typeface="Roboto"/>
                <a:cs typeface="Roboto"/>
                <a:sym typeface="Roboto"/>
              </a:rPr>
              <a:t>Q4: Peak Year</a:t>
            </a:r>
            <a:endParaRPr/>
          </a:p>
        </p:txBody>
      </p:sp>
      <p:sp>
        <p:nvSpPr>
          <p:cNvPr id="212" name="Google Shape;212;p21"/>
          <p:cNvSpPr txBox="1"/>
          <p:nvPr/>
        </p:nvSpPr>
        <p:spPr>
          <a:xfrm>
            <a:off x="4597449" y="3886200"/>
            <a:ext cx="2997249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2022</a:t>
            </a:r>
            <a:r>
              <a:rPr lang="en-US" sz="135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 recorded the highest average CO2 emissions (585.33 Mt), serving as a key target year for investigating industrial activity spikes.</a:t>
            </a:r>
            <a:endParaRPr/>
          </a:p>
        </p:txBody>
      </p:sp>
      <p:sp>
        <p:nvSpPr>
          <p:cNvPr id="213" name="Google Shape;213;p21"/>
          <p:cNvSpPr txBox="1"/>
          <p:nvPr/>
        </p:nvSpPr>
        <p:spPr>
          <a:xfrm>
            <a:off x="8300817" y="3476625"/>
            <a:ext cx="3147112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04D40"/>
                </a:solidFill>
                <a:latin typeface="Roboto"/>
                <a:ea typeface="Roboto"/>
                <a:cs typeface="Roboto"/>
                <a:sym typeface="Roboto"/>
              </a:rPr>
              <a:t>Q5: Top Emitters</a:t>
            </a:r>
            <a:endParaRPr/>
          </a:p>
        </p:txBody>
      </p:sp>
      <p:sp>
        <p:nvSpPr>
          <p:cNvPr id="214" name="Google Shape;214;p21"/>
          <p:cNvSpPr txBox="1"/>
          <p:nvPr/>
        </p:nvSpPr>
        <p:spPr>
          <a:xfrm>
            <a:off x="8375749" y="3886200"/>
            <a:ext cx="2997249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Asia (583.9 Mt)</a:t>
            </a:r>
            <a:r>
              <a:rPr lang="en-US" sz="135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 and </a:t>
            </a:r>
            <a:r>
              <a:rPr lang="en-US" sz="1350" b="1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North America (583.6 Mt)</a:t>
            </a:r>
            <a:r>
              <a:rPr lang="en-US" sz="135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 are the primary contributors, identifying them as priority targets for mitigation.</a:t>
            </a:r>
            <a:endParaRPr/>
          </a:p>
        </p:txBody>
      </p:sp>
      <p:pic>
        <p:nvPicPr>
          <p:cNvPr id="215" name="Google Shape;215;p21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65287" y="2867025"/>
            <a:ext cx="504825" cy="400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21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72162" y="2867025"/>
            <a:ext cx="447675" cy="400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21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50462" y="2867025"/>
            <a:ext cx="447675" cy="400050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21"/>
          <p:cNvSpPr txBox="1"/>
          <p:nvPr/>
        </p:nvSpPr>
        <p:spPr>
          <a:xfrm>
            <a:off x="571500" y="571500"/>
            <a:ext cx="1160145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4D40"/>
                </a:solidFill>
                <a:latin typeface="Roboto"/>
                <a:ea typeface="Roboto"/>
                <a:cs typeface="Roboto"/>
                <a:sym typeface="Roboto"/>
              </a:rPr>
              <a:t>2. Emissions &amp; Benchmarking</a:t>
            </a:r>
            <a:endParaRPr/>
          </a:p>
        </p:txBody>
      </p:sp>
      <p:sp>
        <p:nvSpPr>
          <p:cNvPr id="219" name="Google Shape;219;p21"/>
          <p:cNvSpPr/>
          <p:nvPr/>
        </p:nvSpPr>
        <p:spPr>
          <a:xfrm>
            <a:off x="571500" y="1181100"/>
            <a:ext cx="11049000" cy="28575"/>
          </a:xfrm>
          <a:prstGeom prst="rect">
            <a:avLst/>
          </a:prstGeom>
          <a:solidFill>
            <a:srgbClr val="4DB6A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4" name="Google Shape;224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5" name="Google Shape;225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414587"/>
            <a:ext cx="3492549" cy="304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799" y="2414587"/>
            <a:ext cx="3492549" cy="304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2414587"/>
            <a:ext cx="3492549" cy="304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375749" y="2662237"/>
            <a:ext cx="2997249" cy="542925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22"/>
          <p:cNvSpPr txBox="1"/>
          <p:nvPr/>
        </p:nvSpPr>
        <p:spPr>
          <a:xfrm>
            <a:off x="744218" y="3348037"/>
            <a:ext cx="3147112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04D40"/>
                </a:solidFill>
                <a:latin typeface="Roboto"/>
                <a:ea typeface="Roboto"/>
                <a:cs typeface="Roboto"/>
                <a:sym typeface="Roboto"/>
              </a:rPr>
              <a:t>Q6: Sea Level Rise</a:t>
            </a:r>
            <a:endParaRPr/>
          </a:p>
        </p:txBody>
      </p:sp>
      <p:sp>
        <p:nvSpPr>
          <p:cNvPr id="230" name="Google Shape;230;p22"/>
          <p:cNvSpPr txBox="1"/>
          <p:nvPr/>
        </p:nvSpPr>
        <p:spPr>
          <a:xfrm>
            <a:off x="819150" y="3757612"/>
            <a:ext cx="2997249" cy="1285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Africa</a:t>
            </a:r>
            <a:r>
              <a:rPr lang="en-US" sz="135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 faces the most severe impact with </a:t>
            </a:r>
            <a:r>
              <a:rPr lang="en-US" sz="1350" b="1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3.08 mm</a:t>
            </a:r>
            <a:r>
              <a:rPr lang="en-US" sz="135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 average rise, necessitating urgent coastal adaptation infrastructure investment.</a:t>
            </a:r>
            <a:endParaRPr/>
          </a:p>
        </p:txBody>
      </p:sp>
      <p:sp>
        <p:nvSpPr>
          <p:cNvPr id="231" name="Google Shape;231;p22"/>
          <p:cNvSpPr txBox="1"/>
          <p:nvPr/>
        </p:nvSpPr>
        <p:spPr>
          <a:xfrm>
            <a:off x="4522518" y="3348037"/>
            <a:ext cx="3147112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04D40"/>
                </a:solidFill>
                <a:latin typeface="Roboto"/>
                <a:ea typeface="Roboto"/>
                <a:cs typeface="Roboto"/>
                <a:sym typeface="Roboto"/>
              </a:rPr>
              <a:t>Q7: Heat Stress</a:t>
            </a:r>
            <a:endParaRPr/>
          </a:p>
        </p:txBody>
      </p:sp>
      <p:sp>
        <p:nvSpPr>
          <p:cNvPr id="232" name="Google Shape;232;p22"/>
          <p:cNvSpPr txBox="1"/>
          <p:nvPr/>
        </p:nvSpPr>
        <p:spPr>
          <a:xfrm>
            <a:off x="4597449" y="3757612"/>
            <a:ext cx="2997249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South America</a:t>
            </a:r>
            <a:r>
              <a:rPr lang="en-US" sz="135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 records the highest average temperature (</a:t>
            </a:r>
            <a:r>
              <a:rPr lang="en-US" sz="1350" b="1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22.82°C</a:t>
            </a:r>
            <a:r>
              <a:rPr lang="en-US" sz="135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), highlighting a need for heat-related public health strategies.</a:t>
            </a:r>
            <a:endParaRPr/>
          </a:p>
        </p:txBody>
      </p:sp>
      <p:sp>
        <p:nvSpPr>
          <p:cNvPr id="233" name="Google Shape;233;p22"/>
          <p:cNvSpPr txBox="1"/>
          <p:nvPr/>
        </p:nvSpPr>
        <p:spPr>
          <a:xfrm>
            <a:off x="8300817" y="3348037"/>
            <a:ext cx="3147112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04D40"/>
                </a:solidFill>
                <a:latin typeface="Roboto"/>
                <a:ea typeface="Roboto"/>
                <a:cs typeface="Roboto"/>
                <a:sym typeface="Roboto"/>
              </a:rPr>
              <a:t>Q8: Warming Trend</a:t>
            </a:r>
            <a:endParaRPr/>
          </a:p>
        </p:txBody>
      </p:sp>
      <p:sp>
        <p:nvSpPr>
          <p:cNvPr id="234" name="Google Shape;234;p22"/>
          <p:cNvSpPr txBox="1"/>
          <p:nvPr/>
        </p:nvSpPr>
        <p:spPr>
          <a:xfrm>
            <a:off x="8375749" y="3757612"/>
            <a:ext cx="2997249" cy="1285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High-risk continents (Oceania, Europe, Africa) show a </a:t>
            </a:r>
            <a:r>
              <a:rPr lang="en-US" sz="1350" b="1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consistent increasing trend</a:t>
            </a:r>
            <a:r>
              <a:rPr lang="en-US" sz="135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 in temperature, compounding their existing vulnerability.</a:t>
            </a:r>
            <a:endParaRPr/>
          </a:p>
        </p:txBody>
      </p:sp>
      <p:pic>
        <p:nvPicPr>
          <p:cNvPr id="235" name="Google Shape;235;p22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2093862" y="2738437"/>
            <a:ext cx="447675" cy="400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Google Shape;236;p22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5895975" y="2738437"/>
            <a:ext cx="400050" cy="400050"/>
          </a:xfrm>
          <a:prstGeom prst="rect">
            <a:avLst/>
          </a:prstGeom>
          <a:noFill/>
          <a:ln>
            <a:noFill/>
          </a:ln>
        </p:spPr>
      </p:pic>
      <p:sp>
        <p:nvSpPr>
          <p:cNvPr id="237" name="Google Shape;237;p22"/>
          <p:cNvSpPr txBox="1"/>
          <p:nvPr/>
        </p:nvSpPr>
        <p:spPr>
          <a:xfrm>
            <a:off x="571500" y="571500"/>
            <a:ext cx="1160145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4D40"/>
                </a:solidFill>
                <a:latin typeface="Roboto"/>
                <a:ea typeface="Roboto"/>
                <a:cs typeface="Roboto"/>
                <a:sym typeface="Roboto"/>
              </a:rPr>
              <a:t>3. Vulnerability &amp; Impacts</a:t>
            </a:r>
            <a:endParaRPr/>
          </a:p>
        </p:txBody>
      </p:sp>
      <p:sp>
        <p:nvSpPr>
          <p:cNvPr id="238" name="Google Shape;238;p22"/>
          <p:cNvSpPr/>
          <p:nvPr/>
        </p:nvSpPr>
        <p:spPr>
          <a:xfrm>
            <a:off x="571500" y="1181100"/>
            <a:ext cx="11049000" cy="28575"/>
          </a:xfrm>
          <a:prstGeom prst="rect">
            <a:avLst/>
          </a:prstGeom>
          <a:solidFill>
            <a:srgbClr val="4DB6A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1"/>
          <p:cNvSpPr txBox="1"/>
          <p:nvPr/>
        </p:nvSpPr>
        <p:spPr>
          <a:xfrm>
            <a:off x="762000" y="1252537"/>
            <a:ext cx="480060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4D40"/>
                </a:solidFill>
                <a:latin typeface="Roboto"/>
                <a:ea typeface="Roboto"/>
                <a:cs typeface="Roboto"/>
                <a:sym typeface="Roboto"/>
              </a:rPr>
              <a:t>The Big Data Challenge</a:t>
            </a:r>
            <a:endParaRPr/>
          </a:p>
        </p:txBody>
      </p:sp>
      <p:sp>
        <p:nvSpPr>
          <p:cNvPr id="206" name="Google Shape;206;p21"/>
          <p:cNvSpPr/>
          <p:nvPr/>
        </p:nvSpPr>
        <p:spPr>
          <a:xfrm>
            <a:off x="762000" y="1862137"/>
            <a:ext cx="4572000" cy="28575"/>
          </a:xfrm>
          <a:prstGeom prst="rect">
            <a:avLst/>
          </a:prstGeom>
          <a:solidFill>
            <a:srgbClr val="4DB6A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21"/>
          <p:cNvSpPr txBox="1"/>
          <p:nvPr/>
        </p:nvSpPr>
        <p:spPr>
          <a:xfrm>
            <a:off x="762000" y="2462212"/>
            <a:ext cx="4572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While Pandas excels at small-scale analysis, it faces critical limitations with large datasets (&gt;5GB) typical in enterprise environments.</a:t>
            </a:r>
            <a:endParaRPr/>
          </a:p>
        </p:txBody>
      </p:sp>
      <p:sp>
        <p:nvSpPr>
          <p:cNvPr id="208" name="Google Shape;208;p21"/>
          <p:cNvSpPr txBox="1"/>
          <p:nvPr/>
        </p:nvSpPr>
        <p:spPr>
          <a:xfrm>
            <a:off x="762000" y="4043362"/>
            <a:ext cx="4572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The Solution: Apache Spark</a:t>
            </a:r>
            <a:endParaRPr/>
          </a:p>
        </p:txBody>
      </p:sp>
      <p:sp>
        <p:nvSpPr>
          <p:cNvPr id="209" name="Google Shape;209;p21"/>
          <p:cNvSpPr txBox="1"/>
          <p:nvPr/>
        </p:nvSpPr>
        <p:spPr>
          <a:xfrm>
            <a:off x="1066800" y="4538662"/>
            <a:ext cx="762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210" name="Google Shape;210;p21"/>
          <p:cNvSpPr txBox="1"/>
          <p:nvPr/>
        </p:nvSpPr>
        <p:spPr>
          <a:xfrm>
            <a:off x="1143000" y="4538662"/>
            <a:ext cx="4191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Distributed Computing (Cluster-based).</a:t>
            </a:r>
            <a:endParaRPr/>
          </a:p>
        </p:txBody>
      </p:sp>
      <p:sp>
        <p:nvSpPr>
          <p:cNvPr id="211" name="Google Shape;211;p21"/>
          <p:cNvSpPr txBox="1"/>
          <p:nvPr/>
        </p:nvSpPr>
        <p:spPr>
          <a:xfrm>
            <a:off x="1066800" y="4843462"/>
            <a:ext cx="762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212" name="Google Shape;212;p21"/>
          <p:cNvSpPr txBox="1"/>
          <p:nvPr/>
        </p:nvSpPr>
        <p:spPr>
          <a:xfrm>
            <a:off x="1143000" y="4843462"/>
            <a:ext cx="4191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Lazy Evaluation (Optimized execution plans).</a:t>
            </a:r>
            <a:endParaRPr/>
          </a:p>
        </p:txBody>
      </p:sp>
      <p:sp>
        <p:nvSpPr>
          <p:cNvPr id="213" name="Google Shape;213;p21"/>
          <p:cNvSpPr txBox="1"/>
          <p:nvPr/>
        </p:nvSpPr>
        <p:spPr>
          <a:xfrm>
            <a:off x="1066800" y="5148262"/>
            <a:ext cx="762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214" name="Google Shape;214;p21"/>
          <p:cNvSpPr txBox="1"/>
          <p:nvPr/>
        </p:nvSpPr>
        <p:spPr>
          <a:xfrm>
            <a:off x="1143000" y="5148262"/>
            <a:ext cx="4191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Fault Tolerance.</a:t>
            </a:r>
            <a:endParaRPr/>
          </a:p>
        </p:txBody>
      </p:sp>
      <p:pic>
        <p:nvPicPr>
          <p:cNvPr id="215" name="Google Shape;215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62600" y="0"/>
            <a:ext cx="66294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0" name="Google Shape;220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31950" y="3378660"/>
            <a:ext cx="762000" cy="76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0" y="3458964"/>
            <a:ext cx="762000" cy="76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" name="Google Shape;223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398049" y="3458964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22"/>
          <p:cNvSpPr/>
          <p:nvPr/>
        </p:nvSpPr>
        <p:spPr>
          <a:xfrm>
            <a:off x="1047750" y="4590008"/>
            <a:ext cx="10096500" cy="38100"/>
          </a:xfrm>
          <a:prstGeom prst="roundRect">
            <a:avLst>
              <a:gd name="adj" fmla="val 16667"/>
            </a:avLst>
          </a:prstGeom>
          <a:solidFill>
            <a:srgbClr val="E0E0E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22"/>
          <p:cNvSpPr txBox="1"/>
          <p:nvPr/>
        </p:nvSpPr>
        <p:spPr>
          <a:xfrm>
            <a:off x="479423" y="4282977"/>
            <a:ext cx="38673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4D40"/>
                </a:solidFill>
                <a:latin typeface="Roboto"/>
                <a:ea typeface="Roboto"/>
                <a:cs typeface="Roboto"/>
                <a:sym typeface="Roboto"/>
              </a:rPr>
              <a:t>Load Data</a:t>
            </a:r>
            <a:endParaRPr/>
          </a:p>
        </p:txBody>
      </p:sp>
      <p:sp>
        <p:nvSpPr>
          <p:cNvPr id="226" name="Google Shape;226;p22"/>
          <p:cNvSpPr txBox="1"/>
          <p:nvPr/>
        </p:nvSpPr>
        <p:spPr>
          <a:xfrm>
            <a:off x="571500" y="4875758"/>
            <a:ext cx="3683049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Measure time to read CSV into memory/dataframe.</a:t>
            </a:r>
            <a:endParaRPr/>
          </a:p>
        </p:txBody>
      </p:sp>
      <p:sp>
        <p:nvSpPr>
          <p:cNvPr id="227" name="Google Shape;227;p22"/>
          <p:cNvSpPr txBox="1"/>
          <p:nvPr/>
        </p:nvSpPr>
        <p:spPr>
          <a:xfrm>
            <a:off x="4162473" y="4347221"/>
            <a:ext cx="38673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4D40"/>
                </a:solidFill>
                <a:latin typeface="Roboto"/>
                <a:ea typeface="Roboto"/>
                <a:cs typeface="Roboto"/>
                <a:sym typeface="Roboto"/>
              </a:rPr>
              <a:t>Process</a:t>
            </a:r>
            <a:endParaRPr/>
          </a:p>
        </p:txBody>
      </p:sp>
      <p:sp>
        <p:nvSpPr>
          <p:cNvPr id="228" name="Google Shape;228;p22"/>
          <p:cNvSpPr txBox="1"/>
          <p:nvPr/>
        </p:nvSpPr>
        <p:spPr>
          <a:xfrm>
            <a:off x="4254549" y="4875758"/>
            <a:ext cx="36831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Perform a ‘</a:t>
            </a: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Group by</a:t>
            </a:r>
            <a:r>
              <a:rPr lang="en-US" sz="1500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’ using</a:t>
            </a: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 some</a:t>
            </a:r>
            <a:r>
              <a:rPr lang="en-US" sz="1500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 tables in each individual dataset</a:t>
            </a:r>
            <a:endParaRPr/>
          </a:p>
        </p:txBody>
      </p:sp>
      <p:sp>
        <p:nvSpPr>
          <p:cNvPr id="229" name="Google Shape;229;p22"/>
          <p:cNvSpPr txBox="1"/>
          <p:nvPr/>
        </p:nvSpPr>
        <p:spPr>
          <a:xfrm>
            <a:off x="7845522" y="4347221"/>
            <a:ext cx="38673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4D40"/>
                </a:solidFill>
                <a:latin typeface="Roboto"/>
                <a:ea typeface="Roboto"/>
                <a:cs typeface="Roboto"/>
                <a:sym typeface="Roboto"/>
              </a:rPr>
              <a:t>Measure</a:t>
            </a:r>
            <a:endParaRPr/>
          </a:p>
        </p:txBody>
      </p:sp>
      <p:sp>
        <p:nvSpPr>
          <p:cNvPr id="230" name="Google Shape;230;p22"/>
          <p:cNvSpPr txBox="1"/>
          <p:nvPr/>
        </p:nvSpPr>
        <p:spPr>
          <a:xfrm>
            <a:off x="7937599" y="4875758"/>
            <a:ext cx="3683049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Record Wall Time (sec) and Memory Usage (MB).</a:t>
            </a:r>
            <a:endParaRPr/>
          </a:p>
        </p:txBody>
      </p:sp>
      <p:sp>
        <p:nvSpPr>
          <p:cNvPr id="231" name="Google Shape;231;p22"/>
          <p:cNvSpPr txBox="1"/>
          <p:nvPr/>
        </p:nvSpPr>
        <p:spPr>
          <a:xfrm>
            <a:off x="571500" y="571500"/>
            <a:ext cx="1160145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4D40"/>
                </a:solidFill>
                <a:latin typeface="Roboto"/>
                <a:ea typeface="Roboto"/>
                <a:cs typeface="Roboto"/>
                <a:sym typeface="Roboto"/>
              </a:rPr>
              <a:t>Performance Comparison Methodology</a:t>
            </a:r>
            <a:endParaRPr/>
          </a:p>
        </p:txBody>
      </p:sp>
      <p:sp>
        <p:nvSpPr>
          <p:cNvPr id="232" name="Google Shape;232;p22"/>
          <p:cNvSpPr/>
          <p:nvPr/>
        </p:nvSpPr>
        <p:spPr>
          <a:xfrm>
            <a:off x="571500" y="1181100"/>
            <a:ext cx="11049000" cy="28575"/>
          </a:xfrm>
          <a:prstGeom prst="rect">
            <a:avLst/>
          </a:prstGeom>
          <a:solidFill>
            <a:srgbClr val="4DB6A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2"/>
          <p:cNvSpPr txBox="1"/>
          <p:nvPr/>
        </p:nvSpPr>
        <p:spPr>
          <a:xfrm>
            <a:off x="2566987" y="1857375"/>
            <a:ext cx="7058025" cy="426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546E7A"/>
                </a:solidFill>
                <a:latin typeface="Open Sans"/>
                <a:ea typeface="Open Sans"/>
                <a:cs typeface="Open Sans"/>
                <a:sym typeface="Open Sans"/>
              </a:rPr>
              <a:t>Benchmarking Pandas vs. Spark across Three Data Scales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8" name="Google Shape;238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39" name="Google Shape;239;p23"/>
          <p:cNvGraphicFramePr/>
          <p:nvPr/>
        </p:nvGraphicFramePr>
        <p:xfrm>
          <a:off x="1104900" y="1762125"/>
          <a:ext cx="9982200" cy="4352950"/>
        </p:xfrm>
        <a:graphic>
          <a:graphicData uri="http://schemas.openxmlformats.org/drawingml/2006/table">
            <a:tbl>
              <a:tblPr firstRow="1" bandRow="1">
                <a:noFill/>
                <a:tableStyleId>{C6A1C1CC-9245-49A4-8EA1-406ACB79E9CC}</a:tableStyleId>
              </a:tblPr>
              <a:tblGrid>
                <a:gridCol w="1933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19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21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Operation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4D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Tool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4D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Small Data (~0.1 MB)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4D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Medium Data (~5 GB)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4D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Massive Data (&gt;30 GB)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4D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37415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Total Execution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7415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Pandas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7415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0.35 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7415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25.19 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7415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MemoryError (Crash)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7415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Spark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7415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~0.50 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7415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36.75 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7415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803.88 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37415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Aggregation Time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7415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Pandas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7415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0.001 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7415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0.29 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7415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N/A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7415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Spark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7415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~0.30 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7415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9.18 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7415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394.96 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1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37415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Memory Profile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7415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Pandas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7415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In-RAM (0.1 MB)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7415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In-RAM (Risk)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7415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Out of RAM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1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7415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Spark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7415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Optimized/Spillable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7415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Optimized/Spillable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74151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Optimized/Spillable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40" name="Google Shape;240;p23"/>
          <p:cNvSpPr/>
          <p:nvPr/>
        </p:nvSpPr>
        <p:spPr>
          <a:xfrm>
            <a:off x="1104900" y="3014662"/>
            <a:ext cx="19335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3"/>
          <p:cNvSpPr/>
          <p:nvPr/>
        </p:nvSpPr>
        <p:spPr>
          <a:xfrm>
            <a:off x="3038475" y="3014662"/>
            <a:ext cx="9525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23"/>
          <p:cNvSpPr/>
          <p:nvPr/>
        </p:nvSpPr>
        <p:spPr>
          <a:xfrm>
            <a:off x="3990975" y="3014662"/>
            <a:ext cx="221932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23"/>
          <p:cNvSpPr/>
          <p:nvPr/>
        </p:nvSpPr>
        <p:spPr>
          <a:xfrm>
            <a:off x="6210300" y="3014662"/>
            <a:ext cx="2286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23"/>
          <p:cNvSpPr/>
          <p:nvPr/>
        </p:nvSpPr>
        <p:spPr>
          <a:xfrm>
            <a:off x="8496300" y="3014662"/>
            <a:ext cx="25908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23"/>
          <p:cNvSpPr/>
          <p:nvPr/>
        </p:nvSpPr>
        <p:spPr>
          <a:xfrm>
            <a:off x="1104900" y="3633787"/>
            <a:ext cx="19335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3"/>
          <p:cNvSpPr/>
          <p:nvPr/>
        </p:nvSpPr>
        <p:spPr>
          <a:xfrm>
            <a:off x="3038475" y="3633787"/>
            <a:ext cx="9525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23"/>
          <p:cNvSpPr/>
          <p:nvPr/>
        </p:nvSpPr>
        <p:spPr>
          <a:xfrm>
            <a:off x="3990975" y="3633787"/>
            <a:ext cx="221932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3"/>
          <p:cNvSpPr/>
          <p:nvPr/>
        </p:nvSpPr>
        <p:spPr>
          <a:xfrm>
            <a:off x="6210300" y="3633787"/>
            <a:ext cx="2286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3"/>
          <p:cNvSpPr/>
          <p:nvPr/>
        </p:nvSpPr>
        <p:spPr>
          <a:xfrm>
            <a:off x="8496300" y="3633787"/>
            <a:ext cx="25908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23"/>
          <p:cNvSpPr/>
          <p:nvPr/>
        </p:nvSpPr>
        <p:spPr>
          <a:xfrm>
            <a:off x="1104900" y="4252912"/>
            <a:ext cx="19335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3"/>
          <p:cNvSpPr/>
          <p:nvPr/>
        </p:nvSpPr>
        <p:spPr>
          <a:xfrm>
            <a:off x="3038475" y="4252912"/>
            <a:ext cx="9525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3"/>
          <p:cNvSpPr/>
          <p:nvPr/>
        </p:nvSpPr>
        <p:spPr>
          <a:xfrm>
            <a:off x="3990975" y="4252912"/>
            <a:ext cx="221932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23"/>
          <p:cNvSpPr/>
          <p:nvPr/>
        </p:nvSpPr>
        <p:spPr>
          <a:xfrm>
            <a:off x="6210300" y="4252912"/>
            <a:ext cx="2286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3"/>
          <p:cNvSpPr/>
          <p:nvPr/>
        </p:nvSpPr>
        <p:spPr>
          <a:xfrm>
            <a:off x="8496300" y="4252912"/>
            <a:ext cx="25908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23"/>
          <p:cNvSpPr/>
          <p:nvPr/>
        </p:nvSpPr>
        <p:spPr>
          <a:xfrm>
            <a:off x="1104900" y="4872037"/>
            <a:ext cx="19335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23"/>
          <p:cNvSpPr/>
          <p:nvPr/>
        </p:nvSpPr>
        <p:spPr>
          <a:xfrm>
            <a:off x="3038475" y="4872037"/>
            <a:ext cx="9525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3"/>
          <p:cNvSpPr/>
          <p:nvPr/>
        </p:nvSpPr>
        <p:spPr>
          <a:xfrm>
            <a:off x="3990975" y="4872037"/>
            <a:ext cx="221932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23"/>
          <p:cNvSpPr/>
          <p:nvPr/>
        </p:nvSpPr>
        <p:spPr>
          <a:xfrm>
            <a:off x="6210300" y="4872037"/>
            <a:ext cx="2286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23"/>
          <p:cNvSpPr/>
          <p:nvPr/>
        </p:nvSpPr>
        <p:spPr>
          <a:xfrm>
            <a:off x="8496300" y="4872037"/>
            <a:ext cx="25908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23"/>
          <p:cNvSpPr/>
          <p:nvPr/>
        </p:nvSpPr>
        <p:spPr>
          <a:xfrm>
            <a:off x="1104900" y="5491162"/>
            <a:ext cx="19335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23"/>
          <p:cNvSpPr/>
          <p:nvPr/>
        </p:nvSpPr>
        <p:spPr>
          <a:xfrm>
            <a:off x="3038475" y="5491162"/>
            <a:ext cx="9525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23"/>
          <p:cNvSpPr/>
          <p:nvPr/>
        </p:nvSpPr>
        <p:spPr>
          <a:xfrm>
            <a:off x="3990975" y="5491162"/>
            <a:ext cx="221932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23"/>
          <p:cNvSpPr/>
          <p:nvPr/>
        </p:nvSpPr>
        <p:spPr>
          <a:xfrm>
            <a:off x="6210300" y="5491162"/>
            <a:ext cx="2286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23"/>
          <p:cNvSpPr/>
          <p:nvPr/>
        </p:nvSpPr>
        <p:spPr>
          <a:xfrm>
            <a:off x="8496300" y="5491162"/>
            <a:ext cx="25908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23"/>
          <p:cNvSpPr txBox="1"/>
          <p:nvPr/>
        </p:nvSpPr>
        <p:spPr>
          <a:xfrm>
            <a:off x="571500" y="571500"/>
            <a:ext cx="1160145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4D40"/>
                </a:solidFill>
                <a:latin typeface="Roboto"/>
                <a:ea typeface="Roboto"/>
                <a:cs typeface="Roboto"/>
                <a:sym typeface="Roboto"/>
              </a:rPr>
              <a:t>Benchmark Results: Time and Memory</a:t>
            </a:r>
            <a:endParaRPr/>
          </a:p>
        </p:txBody>
      </p:sp>
      <p:sp>
        <p:nvSpPr>
          <p:cNvPr id="266" name="Google Shape;266;p23"/>
          <p:cNvSpPr/>
          <p:nvPr/>
        </p:nvSpPr>
        <p:spPr>
          <a:xfrm>
            <a:off x="571500" y="1181100"/>
            <a:ext cx="11049000" cy="28575"/>
          </a:xfrm>
          <a:prstGeom prst="rect">
            <a:avLst/>
          </a:prstGeom>
          <a:solidFill>
            <a:srgbClr val="4DB6A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24"/>
          <p:cNvSpPr/>
          <p:nvPr/>
        </p:nvSpPr>
        <p:spPr>
          <a:xfrm>
            <a:off x="1104900" y="3014662"/>
            <a:ext cx="19335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24"/>
          <p:cNvSpPr/>
          <p:nvPr/>
        </p:nvSpPr>
        <p:spPr>
          <a:xfrm>
            <a:off x="3038475" y="3014662"/>
            <a:ext cx="9525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4"/>
          <p:cNvSpPr/>
          <p:nvPr/>
        </p:nvSpPr>
        <p:spPr>
          <a:xfrm>
            <a:off x="3990975" y="3014662"/>
            <a:ext cx="22194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4"/>
          <p:cNvSpPr/>
          <p:nvPr/>
        </p:nvSpPr>
        <p:spPr>
          <a:xfrm>
            <a:off x="6210300" y="3014662"/>
            <a:ext cx="22860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4"/>
          <p:cNvSpPr/>
          <p:nvPr/>
        </p:nvSpPr>
        <p:spPr>
          <a:xfrm>
            <a:off x="8496300" y="3014662"/>
            <a:ext cx="25908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4"/>
          <p:cNvSpPr/>
          <p:nvPr/>
        </p:nvSpPr>
        <p:spPr>
          <a:xfrm>
            <a:off x="1104900" y="3633787"/>
            <a:ext cx="19335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4"/>
          <p:cNvSpPr/>
          <p:nvPr/>
        </p:nvSpPr>
        <p:spPr>
          <a:xfrm>
            <a:off x="3038475" y="3633787"/>
            <a:ext cx="9525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4"/>
          <p:cNvSpPr/>
          <p:nvPr/>
        </p:nvSpPr>
        <p:spPr>
          <a:xfrm>
            <a:off x="3990975" y="3633787"/>
            <a:ext cx="22194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4"/>
          <p:cNvSpPr/>
          <p:nvPr/>
        </p:nvSpPr>
        <p:spPr>
          <a:xfrm>
            <a:off x="6210300" y="3633787"/>
            <a:ext cx="22860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24"/>
          <p:cNvSpPr/>
          <p:nvPr/>
        </p:nvSpPr>
        <p:spPr>
          <a:xfrm>
            <a:off x="8496300" y="3633787"/>
            <a:ext cx="25908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24"/>
          <p:cNvSpPr/>
          <p:nvPr/>
        </p:nvSpPr>
        <p:spPr>
          <a:xfrm>
            <a:off x="1104900" y="4252912"/>
            <a:ext cx="19335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24"/>
          <p:cNvSpPr/>
          <p:nvPr/>
        </p:nvSpPr>
        <p:spPr>
          <a:xfrm>
            <a:off x="3038475" y="4252912"/>
            <a:ext cx="9525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24"/>
          <p:cNvSpPr/>
          <p:nvPr/>
        </p:nvSpPr>
        <p:spPr>
          <a:xfrm>
            <a:off x="3990975" y="4252912"/>
            <a:ext cx="22194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4"/>
          <p:cNvSpPr/>
          <p:nvPr/>
        </p:nvSpPr>
        <p:spPr>
          <a:xfrm>
            <a:off x="6210300" y="4252912"/>
            <a:ext cx="22860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24"/>
          <p:cNvSpPr/>
          <p:nvPr/>
        </p:nvSpPr>
        <p:spPr>
          <a:xfrm>
            <a:off x="8496300" y="4252912"/>
            <a:ext cx="25908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24"/>
          <p:cNvSpPr/>
          <p:nvPr/>
        </p:nvSpPr>
        <p:spPr>
          <a:xfrm>
            <a:off x="1104900" y="4872037"/>
            <a:ext cx="19335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24"/>
          <p:cNvSpPr/>
          <p:nvPr/>
        </p:nvSpPr>
        <p:spPr>
          <a:xfrm>
            <a:off x="3038475" y="4872037"/>
            <a:ext cx="9525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24"/>
          <p:cNvSpPr/>
          <p:nvPr/>
        </p:nvSpPr>
        <p:spPr>
          <a:xfrm>
            <a:off x="3990975" y="4872037"/>
            <a:ext cx="22194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24"/>
          <p:cNvSpPr/>
          <p:nvPr/>
        </p:nvSpPr>
        <p:spPr>
          <a:xfrm>
            <a:off x="6210300" y="4872037"/>
            <a:ext cx="22860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24"/>
          <p:cNvSpPr/>
          <p:nvPr/>
        </p:nvSpPr>
        <p:spPr>
          <a:xfrm>
            <a:off x="8496300" y="4872037"/>
            <a:ext cx="25908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24"/>
          <p:cNvSpPr/>
          <p:nvPr/>
        </p:nvSpPr>
        <p:spPr>
          <a:xfrm>
            <a:off x="1104900" y="5491162"/>
            <a:ext cx="19335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24"/>
          <p:cNvSpPr/>
          <p:nvPr/>
        </p:nvSpPr>
        <p:spPr>
          <a:xfrm>
            <a:off x="3038475" y="5491162"/>
            <a:ext cx="9525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24"/>
          <p:cNvSpPr/>
          <p:nvPr/>
        </p:nvSpPr>
        <p:spPr>
          <a:xfrm>
            <a:off x="3990975" y="5491162"/>
            <a:ext cx="22194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4"/>
          <p:cNvSpPr/>
          <p:nvPr/>
        </p:nvSpPr>
        <p:spPr>
          <a:xfrm>
            <a:off x="6210300" y="5491162"/>
            <a:ext cx="22860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24"/>
          <p:cNvSpPr/>
          <p:nvPr/>
        </p:nvSpPr>
        <p:spPr>
          <a:xfrm>
            <a:off x="8496300" y="5491162"/>
            <a:ext cx="25908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24"/>
          <p:cNvSpPr txBox="1"/>
          <p:nvPr/>
        </p:nvSpPr>
        <p:spPr>
          <a:xfrm>
            <a:off x="571500" y="571500"/>
            <a:ext cx="116016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>
                <a:solidFill>
                  <a:srgbClr val="004D40"/>
                </a:solidFill>
                <a:latin typeface="Roboto"/>
                <a:ea typeface="Roboto"/>
                <a:cs typeface="Roboto"/>
                <a:sym typeface="Roboto"/>
              </a:rPr>
              <a:t>Screenshot of code output</a:t>
            </a:r>
            <a:r>
              <a:rPr lang="en-US" sz="3150" b="1" i="0" u="none" strike="noStrike" cap="none">
                <a:solidFill>
                  <a:srgbClr val="004D40"/>
                </a:solidFill>
                <a:latin typeface="Roboto"/>
                <a:ea typeface="Roboto"/>
                <a:cs typeface="Roboto"/>
                <a:sym typeface="Roboto"/>
              </a:rPr>
              <a:t>: </a:t>
            </a:r>
            <a:r>
              <a:rPr lang="en-US" sz="3150" b="1">
                <a:solidFill>
                  <a:srgbClr val="004D40"/>
                </a:solidFill>
                <a:latin typeface="Roboto"/>
                <a:ea typeface="Roboto"/>
                <a:cs typeface="Roboto"/>
                <a:sym typeface="Roboto"/>
              </a:rPr>
              <a:t>&lt; 1mb Climate change dataset</a:t>
            </a:r>
            <a:endParaRPr/>
          </a:p>
        </p:txBody>
      </p:sp>
      <p:sp>
        <p:nvSpPr>
          <p:cNvPr id="298" name="Google Shape;298;p24"/>
          <p:cNvSpPr/>
          <p:nvPr/>
        </p:nvSpPr>
        <p:spPr>
          <a:xfrm>
            <a:off x="571500" y="1181100"/>
            <a:ext cx="11049000" cy="28500"/>
          </a:xfrm>
          <a:prstGeom prst="rect">
            <a:avLst/>
          </a:prstGeom>
          <a:solidFill>
            <a:srgbClr val="4DB6A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24"/>
          <p:cNvSpPr txBox="1"/>
          <p:nvPr/>
        </p:nvSpPr>
        <p:spPr>
          <a:xfrm>
            <a:off x="521800" y="1276655"/>
            <a:ext cx="4122900" cy="6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>
                <a:solidFill>
                  <a:srgbClr val="004D40"/>
                </a:solidFill>
                <a:latin typeface="Roboto"/>
                <a:ea typeface="Roboto"/>
                <a:cs typeface="Roboto"/>
                <a:sym typeface="Roboto"/>
              </a:rPr>
              <a:t>Pandas</a:t>
            </a:r>
            <a:endParaRPr/>
          </a:p>
        </p:txBody>
      </p:sp>
      <p:sp>
        <p:nvSpPr>
          <p:cNvPr id="300" name="Google Shape;300;p24"/>
          <p:cNvSpPr txBox="1"/>
          <p:nvPr/>
        </p:nvSpPr>
        <p:spPr>
          <a:xfrm>
            <a:off x="6793400" y="1284507"/>
            <a:ext cx="4122900" cy="6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>
                <a:solidFill>
                  <a:srgbClr val="004D40"/>
                </a:solidFill>
                <a:latin typeface="Roboto"/>
                <a:ea typeface="Roboto"/>
                <a:cs typeface="Roboto"/>
                <a:sym typeface="Roboto"/>
              </a:rPr>
              <a:t>Pyspark</a:t>
            </a:r>
            <a:endParaRPr/>
          </a:p>
        </p:txBody>
      </p:sp>
      <p:pic>
        <p:nvPicPr>
          <p:cNvPr id="301" name="Google Shape;301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7632" y="2062375"/>
            <a:ext cx="5396697" cy="343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2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142821" y="2062375"/>
            <a:ext cx="5982924" cy="343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" name="Google Shape;307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25"/>
          <p:cNvSpPr/>
          <p:nvPr/>
        </p:nvSpPr>
        <p:spPr>
          <a:xfrm>
            <a:off x="1104900" y="3014662"/>
            <a:ext cx="19335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25"/>
          <p:cNvSpPr/>
          <p:nvPr/>
        </p:nvSpPr>
        <p:spPr>
          <a:xfrm>
            <a:off x="3038475" y="3014662"/>
            <a:ext cx="9525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25"/>
          <p:cNvSpPr/>
          <p:nvPr/>
        </p:nvSpPr>
        <p:spPr>
          <a:xfrm>
            <a:off x="3990975" y="3014662"/>
            <a:ext cx="22194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25"/>
          <p:cNvSpPr/>
          <p:nvPr/>
        </p:nvSpPr>
        <p:spPr>
          <a:xfrm>
            <a:off x="6210300" y="3014662"/>
            <a:ext cx="22860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25"/>
          <p:cNvSpPr/>
          <p:nvPr/>
        </p:nvSpPr>
        <p:spPr>
          <a:xfrm>
            <a:off x="8496300" y="3014662"/>
            <a:ext cx="25908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25"/>
          <p:cNvSpPr/>
          <p:nvPr/>
        </p:nvSpPr>
        <p:spPr>
          <a:xfrm>
            <a:off x="1104900" y="3633787"/>
            <a:ext cx="19335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25"/>
          <p:cNvSpPr/>
          <p:nvPr/>
        </p:nvSpPr>
        <p:spPr>
          <a:xfrm>
            <a:off x="3038475" y="3633787"/>
            <a:ext cx="9525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25"/>
          <p:cNvSpPr/>
          <p:nvPr/>
        </p:nvSpPr>
        <p:spPr>
          <a:xfrm>
            <a:off x="3990975" y="3633787"/>
            <a:ext cx="22194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25"/>
          <p:cNvSpPr/>
          <p:nvPr/>
        </p:nvSpPr>
        <p:spPr>
          <a:xfrm>
            <a:off x="6210300" y="3633787"/>
            <a:ext cx="22860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25"/>
          <p:cNvSpPr/>
          <p:nvPr/>
        </p:nvSpPr>
        <p:spPr>
          <a:xfrm>
            <a:off x="8496300" y="3633787"/>
            <a:ext cx="25908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25"/>
          <p:cNvSpPr/>
          <p:nvPr/>
        </p:nvSpPr>
        <p:spPr>
          <a:xfrm>
            <a:off x="1104900" y="4252912"/>
            <a:ext cx="19335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25"/>
          <p:cNvSpPr/>
          <p:nvPr/>
        </p:nvSpPr>
        <p:spPr>
          <a:xfrm>
            <a:off x="3038475" y="4252912"/>
            <a:ext cx="9525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25"/>
          <p:cNvSpPr/>
          <p:nvPr/>
        </p:nvSpPr>
        <p:spPr>
          <a:xfrm>
            <a:off x="3990975" y="4252912"/>
            <a:ext cx="22194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5"/>
          <p:cNvSpPr/>
          <p:nvPr/>
        </p:nvSpPr>
        <p:spPr>
          <a:xfrm>
            <a:off x="6210300" y="4252912"/>
            <a:ext cx="22860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25"/>
          <p:cNvSpPr/>
          <p:nvPr/>
        </p:nvSpPr>
        <p:spPr>
          <a:xfrm>
            <a:off x="8496300" y="4252912"/>
            <a:ext cx="25908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25"/>
          <p:cNvSpPr/>
          <p:nvPr/>
        </p:nvSpPr>
        <p:spPr>
          <a:xfrm>
            <a:off x="1104900" y="4872037"/>
            <a:ext cx="19335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25"/>
          <p:cNvSpPr/>
          <p:nvPr/>
        </p:nvSpPr>
        <p:spPr>
          <a:xfrm>
            <a:off x="3038475" y="4872037"/>
            <a:ext cx="9525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25"/>
          <p:cNvSpPr/>
          <p:nvPr/>
        </p:nvSpPr>
        <p:spPr>
          <a:xfrm>
            <a:off x="3990975" y="4872037"/>
            <a:ext cx="22194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25"/>
          <p:cNvSpPr/>
          <p:nvPr/>
        </p:nvSpPr>
        <p:spPr>
          <a:xfrm>
            <a:off x="6210300" y="4872037"/>
            <a:ext cx="22860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25"/>
          <p:cNvSpPr/>
          <p:nvPr/>
        </p:nvSpPr>
        <p:spPr>
          <a:xfrm>
            <a:off x="8496300" y="4872037"/>
            <a:ext cx="25908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25"/>
          <p:cNvSpPr/>
          <p:nvPr/>
        </p:nvSpPr>
        <p:spPr>
          <a:xfrm>
            <a:off x="1104900" y="5491162"/>
            <a:ext cx="19335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25"/>
          <p:cNvSpPr/>
          <p:nvPr/>
        </p:nvSpPr>
        <p:spPr>
          <a:xfrm>
            <a:off x="3038475" y="5491162"/>
            <a:ext cx="9525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25"/>
          <p:cNvSpPr/>
          <p:nvPr/>
        </p:nvSpPr>
        <p:spPr>
          <a:xfrm>
            <a:off x="3990975" y="5491162"/>
            <a:ext cx="22194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25"/>
          <p:cNvSpPr/>
          <p:nvPr/>
        </p:nvSpPr>
        <p:spPr>
          <a:xfrm>
            <a:off x="6210300" y="5491162"/>
            <a:ext cx="22860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5"/>
          <p:cNvSpPr/>
          <p:nvPr/>
        </p:nvSpPr>
        <p:spPr>
          <a:xfrm>
            <a:off x="8496300" y="5491162"/>
            <a:ext cx="25908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25"/>
          <p:cNvSpPr txBox="1"/>
          <p:nvPr/>
        </p:nvSpPr>
        <p:spPr>
          <a:xfrm>
            <a:off x="571500" y="571500"/>
            <a:ext cx="116016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>
                <a:solidFill>
                  <a:srgbClr val="004D40"/>
                </a:solidFill>
                <a:latin typeface="Roboto"/>
                <a:ea typeface="Roboto"/>
                <a:cs typeface="Roboto"/>
                <a:sym typeface="Roboto"/>
              </a:rPr>
              <a:t>Screenshot of code output</a:t>
            </a:r>
            <a:r>
              <a:rPr lang="en-US" sz="3150" b="1" i="0" u="none" strike="noStrike" cap="none">
                <a:solidFill>
                  <a:srgbClr val="004D40"/>
                </a:solidFill>
                <a:latin typeface="Roboto"/>
                <a:ea typeface="Roboto"/>
                <a:cs typeface="Roboto"/>
                <a:sym typeface="Roboto"/>
              </a:rPr>
              <a:t>: </a:t>
            </a:r>
            <a:r>
              <a:rPr lang="en-US" sz="3150" b="1">
                <a:solidFill>
                  <a:srgbClr val="004D40"/>
                </a:solidFill>
                <a:latin typeface="Roboto"/>
                <a:ea typeface="Roboto"/>
                <a:cs typeface="Roboto"/>
                <a:sym typeface="Roboto"/>
              </a:rPr>
              <a:t>Around 5gb Taxi dataset</a:t>
            </a:r>
            <a:endParaRPr/>
          </a:p>
        </p:txBody>
      </p:sp>
      <p:sp>
        <p:nvSpPr>
          <p:cNvPr id="334" name="Google Shape;334;p25"/>
          <p:cNvSpPr/>
          <p:nvPr/>
        </p:nvSpPr>
        <p:spPr>
          <a:xfrm>
            <a:off x="571500" y="1181100"/>
            <a:ext cx="11049000" cy="28500"/>
          </a:xfrm>
          <a:prstGeom prst="rect">
            <a:avLst/>
          </a:prstGeom>
          <a:solidFill>
            <a:srgbClr val="4DB6A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25"/>
          <p:cNvSpPr txBox="1"/>
          <p:nvPr/>
        </p:nvSpPr>
        <p:spPr>
          <a:xfrm>
            <a:off x="521800" y="1276655"/>
            <a:ext cx="4122900" cy="6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>
                <a:solidFill>
                  <a:srgbClr val="004D40"/>
                </a:solidFill>
                <a:latin typeface="Roboto"/>
                <a:ea typeface="Roboto"/>
                <a:cs typeface="Roboto"/>
                <a:sym typeface="Roboto"/>
              </a:rPr>
              <a:t>Pandas</a:t>
            </a:r>
            <a:endParaRPr/>
          </a:p>
        </p:txBody>
      </p:sp>
      <p:sp>
        <p:nvSpPr>
          <p:cNvPr id="336" name="Google Shape;336;p25"/>
          <p:cNvSpPr txBox="1"/>
          <p:nvPr/>
        </p:nvSpPr>
        <p:spPr>
          <a:xfrm>
            <a:off x="6793400" y="1284507"/>
            <a:ext cx="4122900" cy="6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>
                <a:solidFill>
                  <a:srgbClr val="004D40"/>
                </a:solidFill>
                <a:latin typeface="Roboto"/>
                <a:ea typeface="Roboto"/>
                <a:cs typeface="Roboto"/>
                <a:sym typeface="Roboto"/>
              </a:rPr>
              <a:t>Pyspark</a:t>
            </a:r>
            <a:endParaRPr/>
          </a:p>
        </p:txBody>
      </p:sp>
      <p:pic>
        <p:nvPicPr>
          <p:cNvPr id="337" name="Google Shape;337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12341" y="1921975"/>
            <a:ext cx="6861807" cy="4936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2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26"/>
          <p:cNvSpPr/>
          <p:nvPr/>
        </p:nvSpPr>
        <p:spPr>
          <a:xfrm>
            <a:off x="1104900" y="3014662"/>
            <a:ext cx="19335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26"/>
          <p:cNvSpPr/>
          <p:nvPr/>
        </p:nvSpPr>
        <p:spPr>
          <a:xfrm>
            <a:off x="3038475" y="3014662"/>
            <a:ext cx="9525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26"/>
          <p:cNvSpPr/>
          <p:nvPr/>
        </p:nvSpPr>
        <p:spPr>
          <a:xfrm>
            <a:off x="3990975" y="3014662"/>
            <a:ext cx="22194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26"/>
          <p:cNvSpPr/>
          <p:nvPr/>
        </p:nvSpPr>
        <p:spPr>
          <a:xfrm>
            <a:off x="6210300" y="3014662"/>
            <a:ext cx="22860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26"/>
          <p:cNvSpPr/>
          <p:nvPr/>
        </p:nvSpPr>
        <p:spPr>
          <a:xfrm>
            <a:off x="8496300" y="3014662"/>
            <a:ext cx="25908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26"/>
          <p:cNvSpPr/>
          <p:nvPr/>
        </p:nvSpPr>
        <p:spPr>
          <a:xfrm>
            <a:off x="1104900" y="3633787"/>
            <a:ext cx="19335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26"/>
          <p:cNvSpPr/>
          <p:nvPr/>
        </p:nvSpPr>
        <p:spPr>
          <a:xfrm>
            <a:off x="3038475" y="3633787"/>
            <a:ext cx="9525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6"/>
          <p:cNvSpPr/>
          <p:nvPr/>
        </p:nvSpPr>
        <p:spPr>
          <a:xfrm>
            <a:off x="3990975" y="3633787"/>
            <a:ext cx="22194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6"/>
          <p:cNvSpPr/>
          <p:nvPr/>
        </p:nvSpPr>
        <p:spPr>
          <a:xfrm>
            <a:off x="6210300" y="3633787"/>
            <a:ext cx="22860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6"/>
          <p:cNvSpPr/>
          <p:nvPr/>
        </p:nvSpPr>
        <p:spPr>
          <a:xfrm>
            <a:off x="8496300" y="3633787"/>
            <a:ext cx="25908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6"/>
          <p:cNvSpPr/>
          <p:nvPr/>
        </p:nvSpPr>
        <p:spPr>
          <a:xfrm>
            <a:off x="1104900" y="4252912"/>
            <a:ext cx="19335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6"/>
          <p:cNvSpPr/>
          <p:nvPr/>
        </p:nvSpPr>
        <p:spPr>
          <a:xfrm>
            <a:off x="3038475" y="4252912"/>
            <a:ext cx="9525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6"/>
          <p:cNvSpPr/>
          <p:nvPr/>
        </p:nvSpPr>
        <p:spPr>
          <a:xfrm>
            <a:off x="3990975" y="4252912"/>
            <a:ext cx="22194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6"/>
          <p:cNvSpPr/>
          <p:nvPr/>
        </p:nvSpPr>
        <p:spPr>
          <a:xfrm>
            <a:off x="6210300" y="4252912"/>
            <a:ext cx="22860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26"/>
          <p:cNvSpPr/>
          <p:nvPr/>
        </p:nvSpPr>
        <p:spPr>
          <a:xfrm>
            <a:off x="8496300" y="4252912"/>
            <a:ext cx="25908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26"/>
          <p:cNvSpPr/>
          <p:nvPr/>
        </p:nvSpPr>
        <p:spPr>
          <a:xfrm>
            <a:off x="1104900" y="4872037"/>
            <a:ext cx="19335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26"/>
          <p:cNvSpPr/>
          <p:nvPr/>
        </p:nvSpPr>
        <p:spPr>
          <a:xfrm>
            <a:off x="3038475" y="4872037"/>
            <a:ext cx="9525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26"/>
          <p:cNvSpPr/>
          <p:nvPr/>
        </p:nvSpPr>
        <p:spPr>
          <a:xfrm>
            <a:off x="3990975" y="4872037"/>
            <a:ext cx="22194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26"/>
          <p:cNvSpPr/>
          <p:nvPr/>
        </p:nvSpPr>
        <p:spPr>
          <a:xfrm>
            <a:off x="6210300" y="4872037"/>
            <a:ext cx="22860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26"/>
          <p:cNvSpPr/>
          <p:nvPr/>
        </p:nvSpPr>
        <p:spPr>
          <a:xfrm>
            <a:off x="8496300" y="4872037"/>
            <a:ext cx="25908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26"/>
          <p:cNvSpPr/>
          <p:nvPr/>
        </p:nvSpPr>
        <p:spPr>
          <a:xfrm>
            <a:off x="1104900" y="5491162"/>
            <a:ext cx="19335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26"/>
          <p:cNvSpPr/>
          <p:nvPr/>
        </p:nvSpPr>
        <p:spPr>
          <a:xfrm>
            <a:off x="3038475" y="5491162"/>
            <a:ext cx="9525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26"/>
          <p:cNvSpPr/>
          <p:nvPr/>
        </p:nvSpPr>
        <p:spPr>
          <a:xfrm>
            <a:off x="3990975" y="5491162"/>
            <a:ext cx="22194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26"/>
          <p:cNvSpPr/>
          <p:nvPr/>
        </p:nvSpPr>
        <p:spPr>
          <a:xfrm>
            <a:off x="6210300" y="5491162"/>
            <a:ext cx="22860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6"/>
          <p:cNvSpPr/>
          <p:nvPr/>
        </p:nvSpPr>
        <p:spPr>
          <a:xfrm>
            <a:off x="8496300" y="5491162"/>
            <a:ext cx="2590800" cy="9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26"/>
          <p:cNvSpPr txBox="1"/>
          <p:nvPr/>
        </p:nvSpPr>
        <p:spPr>
          <a:xfrm>
            <a:off x="571500" y="571500"/>
            <a:ext cx="116016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>
                <a:solidFill>
                  <a:srgbClr val="004D40"/>
                </a:solidFill>
                <a:latin typeface="Roboto"/>
                <a:ea typeface="Roboto"/>
                <a:cs typeface="Roboto"/>
                <a:sym typeface="Roboto"/>
              </a:rPr>
              <a:t>Screenshot of code output</a:t>
            </a:r>
            <a:r>
              <a:rPr lang="en-US" sz="3150" b="1" i="0" u="none" strike="noStrike" cap="none">
                <a:solidFill>
                  <a:srgbClr val="004D40"/>
                </a:solidFill>
                <a:latin typeface="Roboto"/>
                <a:ea typeface="Roboto"/>
                <a:cs typeface="Roboto"/>
                <a:sym typeface="Roboto"/>
              </a:rPr>
              <a:t>: </a:t>
            </a:r>
            <a:r>
              <a:rPr lang="en-US" sz="3150" b="1">
                <a:solidFill>
                  <a:srgbClr val="004D40"/>
                </a:solidFill>
                <a:latin typeface="Roboto"/>
                <a:ea typeface="Roboto"/>
                <a:cs typeface="Roboto"/>
                <a:sym typeface="Roboto"/>
              </a:rPr>
              <a:t>&gt; 30GB flight dataset</a:t>
            </a:r>
            <a:endParaRPr/>
          </a:p>
        </p:txBody>
      </p:sp>
      <p:sp>
        <p:nvSpPr>
          <p:cNvPr id="369" name="Google Shape;369;p26"/>
          <p:cNvSpPr/>
          <p:nvPr/>
        </p:nvSpPr>
        <p:spPr>
          <a:xfrm>
            <a:off x="571500" y="1181100"/>
            <a:ext cx="11049000" cy="28500"/>
          </a:xfrm>
          <a:prstGeom prst="rect">
            <a:avLst/>
          </a:prstGeom>
          <a:solidFill>
            <a:srgbClr val="4DB6A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0" name="Google Shape;370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35725" y="2062219"/>
            <a:ext cx="6037375" cy="343838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1" name="Google Shape;371;p2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66325" y="2032875"/>
            <a:ext cx="5583049" cy="3467875"/>
          </a:xfrm>
          <a:prstGeom prst="rect">
            <a:avLst/>
          </a:prstGeom>
          <a:noFill/>
          <a:ln>
            <a:noFill/>
          </a:ln>
        </p:spPr>
      </p:pic>
      <p:sp>
        <p:nvSpPr>
          <p:cNvPr id="372" name="Google Shape;372;p26"/>
          <p:cNvSpPr txBox="1"/>
          <p:nvPr/>
        </p:nvSpPr>
        <p:spPr>
          <a:xfrm>
            <a:off x="521800" y="1276655"/>
            <a:ext cx="4122900" cy="6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>
                <a:solidFill>
                  <a:srgbClr val="004D40"/>
                </a:solidFill>
                <a:latin typeface="Roboto"/>
                <a:ea typeface="Roboto"/>
                <a:cs typeface="Roboto"/>
                <a:sym typeface="Roboto"/>
              </a:rPr>
              <a:t>Pandas</a:t>
            </a:r>
            <a:endParaRPr/>
          </a:p>
        </p:txBody>
      </p:sp>
      <p:sp>
        <p:nvSpPr>
          <p:cNvPr id="373" name="Google Shape;373;p26"/>
          <p:cNvSpPr txBox="1"/>
          <p:nvPr/>
        </p:nvSpPr>
        <p:spPr>
          <a:xfrm>
            <a:off x="6793400" y="1284507"/>
            <a:ext cx="4122900" cy="6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>
                <a:solidFill>
                  <a:srgbClr val="004D40"/>
                </a:solidFill>
                <a:latin typeface="Roboto"/>
                <a:ea typeface="Roboto"/>
                <a:cs typeface="Roboto"/>
                <a:sym typeface="Roboto"/>
              </a:rPr>
              <a:t>Pyspark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8" name="Google Shape;378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27"/>
          <p:cNvSpPr txBox="1"/>
          <p:nvPr/>
        </p:nvSpPr>
        <p:spPr>
          <a:xfrm>
            <a:off x="1047750" y="2166937"/>
            <a:ext cx="105729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4D40"/>
                </a:solidFill>
                <a:latin typeface="Open Sans"/>
                <a:ea typeface="Open Sans"/>
                <a:cs typeface="Open Sans"/>
                <a:sym typeface="Open Sans"/>
              </a:rPr>
              <a:t>Phase 1: Small Data (0.1 MB):</a:t>
            </a: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 Pandas is Faster. Its low-level, in-memory operations beat Spark by a significant margin (0.35s vs. ~0.50s), making it ideal for local EDA.</a:t>
            </a:r>
            <a:endParaRPr/>
          </a:p>
        </p:txBody>
      </p:sp>
      <p:sp>
        <p:nvSpPr>
          <p:cNvPr id="380" name="Google Shape;380;p27"/>
          <p:cNvSpPr txBox="1"/>
          <p:nvPr/>
        </p:nvSpPr>
        <p:spPr>
          <a:xfrm>
            <a:off x="1047750" y="3014662"/>
            <a:ext cx="105729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004D40"/>
                </a:solidFill>
                <a:latin typeface="Open Sans"/>
                <a:ea typeface="Open Sans"/>
                <a:cs typeface="Open Sans"/>
                <a:sym typeface="Open Sans"/>
              </a:rPr>
              <a:t>Phase 2: Medium Data </a:t>
            </a:r>
            <a:r>
              <a:rPr lang="en-US" sz="1500" b="1" dirty="0">
                <a:solidFill>
                  <a:srgbClr val="004D40"/>
                </a:solidFill>
                <a:latin typeface="Open Sans"/>
                <a:ea typeface="Open Sans"/>
                <a:cs typeface="Open Sans"/>
                <a:sym typeface="Open Sans"/>
              </a:rPr>
              <a:t>(&lt;</a:t>
            </a:r>
            <a:r>
              <a:rPr lang="en-US" sz="1500" b="1" i="0" u="none" strike="noStrike" cap="none" dirty="0">
                <a:solidFill>
                  <a:srgbClr val="004D40"/>
                </a:solidFill>
                <a:latin typeface="Open Sans"/>
                <a:ea typeface="Open Sans"/>
                <a:cs typeface="Open Sans"/>
                <a:sym typeface="Open Sans"/>
              </a:rPr>
              <a:t>5 GB):</a:t>
            </a:r>
            <a:r>
              <a:rPr lang="en-US" sz="1500" b="0" i="0" u="none" strike="noStrike" cap="none" dirty="0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 Pandas is Still Faster in Total Time (25.19s vs. 36.75s). However, Spark's aggregation time (9.18s) is more robust due to parallel processing, and Pandas is approaching its memory limit.</a:t>
            </a:r>
            <a:endParaRPr dirty="0"/>
          </a:p>
        </p:txBody>
      </p:sp>
      <p:sp>
        <p:nvSpPr>
          <p:cNvPr id="381" name="Google Shape;381;p27"/>
          <p:cNvSpPr txBox="1"/>
          <p:nvPr/>
        </p:nvSpPr>
        <p:spPr>
          <a:xfrm>
            <a:off x="1047750" y="3862387"/>
            <a:ext cx="10572900" cy="9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4D40"/>
                </a:solidFill>
                <a:latin typeface="Open Sans"/>
                <a:ea typeface="Open Sans"/>
                <a:cs typeface="Open Sans"/>
                <a:sym typeface="Open Sans"/>
              </a:rPr>
              <a:t>Phase 3: Massive Data (&gt;30 GB):</a:t>
            </a: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 Spark is the Only Solution</a:t>
            </a:r>
            <a:r>
              <a:rPr lang="en-US" sz="1500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! </a:t>
            </a: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Pandas failed with a `MemoryError` (crash), whereas PySpark successfully completed the 803-second job by utilizing distributed resources and intelligently spilling data to disk.</a:t>
            </a:r>
            <a:endParaRPr/>
          </a:p>
        </p:txBody>
      </p:sp>
      <p:sp>
        <p:nvSpPr>
          <p:cNvPr id="382" name="Google Shape;382;p27"/>
          <p:cNvSpPr txBox="1"/>
          <p:nvPr/>
        </p:nvSpPr>
        <p:spPr>
          <a:xfrm>
            <a:off x="1047750" y="5014912"/>
            <a:ext cx="105729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4D40"/>
                </a:solidFill>
                <a:latin typeface="Open Sans"/>
                <a:ea typeface="Open Sans"/>
                <a:cs typeface="Open Sans"/>
                <a:sym typeface="Open Sans"/>
              </a:rPr>
              <a:t>Conclusion:</a:t>
            </a: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 Scalability trumps speed for production data. For anything over 5GB, Spark provides necessary capacity and reliability.</a:t>
            </a:r>
            <a:endParaRPr/>
          </a:p>
        </p:txBody>
      </p:sp>
      <p:pic>
        <p:nvPicPr>
          <p:cNvPr id="383" name="Google Shape;383;p2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205037"/>
            <a:ext cx="26670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4" name="Google Shape;384;p2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052762"/>
            <a:ext cx="333375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5" name="Google Shape;385;p2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3900487"/>
            <a:ext cx="26670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6" name="Google Shape;386;p2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0" y="5053012"/>
            <a:ext cx="2667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387" name="Google Shape;387;p27"/>
          <p:cNvSpPr txBox="1"/>
          <p:nvPr/>
        </p:nvSpPr>
        <p:spPr>
          <a:xfrm>
            <a:off x="571500" y="571500"/>
            <a:ext cx="1160145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4D40"/>
                </a:solidFill>
                <a:latin typeface="Roboto"/>
                <a:ea typeface="Roboto"/>
                <a:cs typeface="Roboto"/>
                <a:sym typeface="Roboto"/>
              </a:rPr>
              <a:t>Three-Phase Analysis: Speed vs. Scalability</a:t>
            </a:r>
            <a:endParaRPr/>
          </a:p>
        </p:txBody>
      </p:sp>
      <p:sp>
        <p:nvSpPr>
          <p:cNvPr id="388" name="Google Shape;388;p27"/>
          <p:cNvSpPr/>
          <p:nvPr/>
        </p:nvSpPr>
        <p:spPr>
          <a:xfrm>
            <a:off x="571500" y="1181100"/>
            <a:ext cx="11049000" cy="28575"/>
          </a:xfrm>
          <a:prstGeom prst="rect">
            <a:avLst/>
          </a:prstGeom>
          <a:solidFill>
            <a:srgbClr val="4DB6A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3" name="Google Shape;393;p2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4" name="Google Shape;394;p2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457450"/>
            <a:ext cx="5286375" cy="2962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2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457450"/>
            <a:ext cx="5286375" cy="2962275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28"/>
          <p:cNvSpPr txBox="1"/>
          <p:nvPr/>
        </p:nvSpPr>
        <p:spPr>
          <a:xfrm>
            <a:off x="1000125" y="2838450"/>
            <a:ext cx="4700587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1B5E20"/>
                </a:solidFill>
                <a:latin typeface="Roboto"/>
                <a:ea typeface="Roboto"/>
                <a:cs typeface="Roboto"/>
                <a:sym typeface="Roboto"/>
              </a:rPr>
              <a:t>Infrastructure Cost</a:t>
            </a:r>
            <a:endParaRPr/>
          </a:p>
        </p:txBody>
      </p:sp>
      <p:sp>
        <p:nvSpPr>
          <p:cNvPr id="397" name="Google Shape;397;p28"/>
          <p:cNvSpPr txBox="1"/>
          <p:nvPr/>
        </p:nvSpPr>
        <p:spPr>
          <a:xfrm>
            <a:off x="1000125" y="3238500"/>
            <a:ext cx="44767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Q:</a:t>
            </a: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 Should we migrate all pipelines to Spark?</a:t>
            </a:r>
            <a:endParaRPr/>
          </a:p>
        </p:txBody>
      </p:sp>
      <p:sp>
        <p:nvSpPr>
          <p:cNvPr id="398" name="Google Shape;398;p28"/>
          <p:cNvSpPr txBox="1"/>
          <p:nvPr/>
        </p:nvSpPr>
        <p:spPr>
          <a:xfrm>
            <a:off x="1000125" y="3933825"/>
            <a:ext cx="44767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A:</a:t>
            </a: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 Only for data exceeding 5GB. For smaller analytical tasks, Pandas is more cost-effective and developer-friendly (lower complexity).</a:t>
            </a:r>
            <a:endParaRPr/>
          </a:p>
        </p:txBody>
      </p:sp>
      <p:sp>
        <p:nvSpPr>
          <p:cNvPr id="399" name="Google Shape;399;p28"/>
          <p:cNvSpPr txBox="1"/>
          <p:nvPr/>
        </p:nvSpPr>
        <p:spPr>
          <a:xfrm>
            <a:off x="6762750" y="2838450"/>
            <a:ext cx="4700587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1B5E20"/>
                </a:solidFill>
                <a:latin typeface="Roboto"/>
                <a:ea typeface="Roboto"/>
                <a:cs typeface="Roboto"/>
                <a:sym typeface="Roboto"/>
              </a:rPr>
              <a:t>Real-time Processing</a:t>
            </a:r>
            <a:endParaRPr/>
          </a:p>
        </p:txBody>
      </p:sp>
      <p:sp>
        <p:nvSpPr>
          <p:cNvPr id="400" name="Google Shape;400;p28"/>
          <p:cNvSpPr txBox="1"/>
          <p:nvPr/>
        </p:nvSpPr>
        <p:spPr>
          <a:xfrm>
            <a:off x="6762750" y="3238500"/>
            <a:ext cx="44767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Q:</a:t>
            </a: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 Can we use this for real-time dashboards?</a:t>
            </a:r>
            <a:endParaRPr/>
          </a:p>
        </p:txBody>
      </p:sp>
      <p:sp>
        <p:nvSpPr>
          <p:cNvPr id="401" name="Google Shape;401;p28"/>
          <p:cNvSpPr txBox="1"/>
          <p:nvPr/>
        </p:nvSpPr>
        <p:spPr>
          <a:xfrm>
            <a:off x="6762750" y="3933825"/>
            <a:ext cx="44767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A:</a:t>
            </a: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 Spark Streaming is recommended for real-time ingestion. Pandas is suitable only for static, batch reporting on smaller subsets.</a:t>
            </a:r>
            <a:endParaRPr/>
          </a:p>
        </p:txBody>
      </p:sp>
      <p:sp>
        <p:nvSpPr>
          <p:cNvPr id="402" name="Google Shape;402;p28"/>
          <p:cNvSpPr txBox="1"/>
          <p:nvPr/>
        </p:nvSpPr>
        <p:spPr>
          <a:xfrm>
            <a:off x="571500" y="571500"/>
            <a:ext cx="1160145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4D40"/>
                </a:solidFill>
                <a:latin typeface="Roboto"/>
                <a:ea typeface="Roboto"/>
                <a:cs typeface="Roboto"/>
                <a:sym typeface="Roboto"/>
              </a:rPr>
              <a:t>Strategic Insights (Big Data)</a:t>
            </a:r>
            <a:endParaRPr/>
          </a:p>
        </p:txBody>
      </p:sp>
      <p:sp>
        <p:nvSpPr>
          <p:cNvPr id="403" name="Google Shape;403;p28"/>
          <p:cNvSpPr/>
          <p:nvPr/>
        </p:nvSpPr>
        <p:spPr>
          <a:xfrm>
            <a:off x="571500" y="1181100"/>
            <a:ext cx="11049000" cy="28575"/>
          </a:xfrm>
          <a:prstGeom prst="rect">
            <a:avLst/>
          </a:prstGeom>
          <a:solidFill>
            <a:srgbClr val="4DB6A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Google Shape;408;p2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09" name="Google Shape;409;p29"/>
          <p:cNvSpPr txBox="1"/>
          <p:nvPr/>
        </p:nvSpPr>
        <p:spPr>
          <a:xfrm>
            <a:off x="762000" y="762000"/>
            <a:ext cx="480060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4D40"/>
                </a:solidFill>
                <a:latin typeface="Roboto"/>
                <a:ea typeface="Roboto"/>
                <a:cs typeface="Roboto"/>
                <a:sym typeface="Roboto"/>
              </a:rPr>
              <a:t>Final Recommendation</a:t>
            </a:r>
            <a:endParaRPr/>
          </a:p>
        </p:txBody>
      </p:sp>
      <p:sp>
        <p:nvSpPr>
          <p:cNvPr id="410" name="Google Shape;410;p29"/>
          <p:cNvSpPr/>
          <p:nvPr/>
        </p:nvSpPr>
        <p:spPr>
          <a:xfrm>
            <a:off x="762000" y="1371600"/>
            <a:ext cx="4572000" cy="28575"/>
          </a:xfrm>
          <a:prstGeom prst="rect">
            <a:avLst/>
          </a:prstGeom>
          <a:solidFill>
            <a:srgbClr val="4DB6A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29"/>
          <p:cNvSpPr txBox="1"/>
          <p:nvPr/>
        </p:nvSpPr>
        <p:spPr>
          <a:xfrm>
            <a:off x="2247900" y="1921220"/>
            <a:ext cx="2011500" cy="12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Hybrid Approach:</a:t>
            </a:r>
            <a:endParaRPr sz="3000"/>
          </a:p>
        </p:txBody>
      </p:sp>
      <p:sp>
        <p:nvSpPr>
          <p:cNvPr id="412" name="Google Shape;412;p29"/>
          <p:cNvSpPr txBox="1"/>
          <p:nvPr/>
        </p:nvSpPr>
        <p:spPr>
          <a:xfrm>
            <a:off x="1066800" y="3538537"/>
            <a:ext cx="762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413" name="Google Shape;413;p29"/>
          <p:cNvSpPr txBox="1"/>
          <p:nvPr/>
        </p:nvSpPr>
        <p:spPr>
          <a:xfrm>
            <a:off x="1143000" y="3538537"/>
            <a:ext cx="41910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Use </a:t>
            </a:r>
            <a:r>
              <a:rPr lang="en-US" sz="1500" b="1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Pandas</a:t>
            </a: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 for data exploration, cleaning, and reporting on datasets &lt; 5GB.</a:t>
            </a:r>
            <a:endParaRPr/>
          </a:p>
        </p:txBody>
      </p:sp>
      <p:sp>
        <p:nvSpPr>
          <p:cNvPr id="414" name="Google Shape;414;p29"/>
          <p:cNvSpPr txBox="1"/>
          <p:nvPr/>
        </p:nvSpPr>
        <p:spPr>
          <a:xfrm>
            <a:off x="1066800" y="4148137"/>
            <a:ext cx="762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415" name="Google Shape;415;p29"/>
          <p:cNvSpPr txBox="1"/>
          <p:nvPr/>
        </p:nvSpPr>
        <p:spPr>
          <a:xfrm>
            <a:off x="1143000" y="4148137"/>
            <a:ext cx="4191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Deploy </a:t>
            </a:r>
            <a:r>
              <a:rPr lang="en-US" sz="1500" b="1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Apache Spark</a:t>
            </a: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 for production pipelines involving high-volume historical data or ETL processes exceeding memory limits.</a:t>
            </a:r>
            <a:endParaRPr/>
          </a:p>
        </p:txBody>
      </p:sp>
      <p:pic>
        <p:nvPicPr>
          <p:cNvPr id="416" name="Google Shape;416;p2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1" name="Google Shape;421;p3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22" name="Google Shape;422;p30"/>
          <p:cNvSpPr txBox="1"/>
          <p:nvPr/>
        </p:nvSpPr>
        <p:spPr>
          <a:xfrm>
            <a:off x="2395537" y="2217390"/>
            <a:ext cx="7400925" cy="895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004D40"/>
                </a:solidFill>
                <a:latin typeface="Roboto"/>
                <a:ea typeface="Roboto"/>
                <a:cs typeface="Roboto"/>
                <a:sym typeface="Roboto"/>
              </a:rPr>
              <a:t>Questions?</a:t>
            </a:r>
            <a:endParaRPr/>
          </a:p>
        </p:txBody>
      </p:sp>
      <p:sp>
        <p:nvSpPr>
          <p:cNvPr id="423" name="Google Shape;423;p30"/>
          <p:cNvSpPr txBox="1"/>
          <p:nvPr/>
        </p:nvSpPr>
        <p:spPr>
          <a:xfrm>
            <a:off x="2571750" y="3303240"/>
            <a:ext cx="704850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Thank you for your attention.</a:t>
            </a:r>
            <a:endParaRPr/>
          </a:p>
        </p:txBody>
      </p:sp>
      <p:sp>
        <p:nvSpPr>
          <p:cNvPr id="424" name="Google Shape;424;p30"/>
          <p:cNvSpPr txBox="1"/>
          <p:nvPr/>
        </p:nvSpPr>
        <p:spPr>
          <a:xfrm>
            <a:off x="2571750" y="4145160"/>
            <a:ext cx="70485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74151"/>
                </a:solidFill>
                <a:latin typeface="Open Sans"/>
                <a:ea typeface="Open Sans"/>
                <a:cs typeface="Open Sans"/>
                <a:sym typeface="Open Sans"/>
              </a:rPr>
              <a:t>References: Kaggle Datasets, Apache Spark Documentation, Pandas User Guide.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1241</Words>
  <Application>Microsoft Office PowerPoint</Application>
  <PresentationFormat>Widescreen</PresentationFormat>
  <Paragraphs>166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Open Sans</vt:lpstr>
      <vt:lpstr>Calibri</vt:lpstr>
      <vt:lpstr>Roboto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Jameson,Promise</cp:lastModifiedBy>
  <cp:revision>25</cp:revision>
  <dcterms:modified xsi:type="dcterms:W3CDTF">2025-12-03T17:50:35Z</dcterms:modified>
</cp:coreProperties>
</file>