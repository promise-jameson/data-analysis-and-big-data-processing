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1" r:id="rId9"/>
    <p:sldId id="262" r:id="rId10"/>
    <p:sldId id="263" r:id="rId11"/>
    <p:sldId id="274" r:id="rId12"/>
    <p:sldId id="275" r:id="rId13"/>
    <p:sldId id="276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embeddedFontLs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C51D1A-80FB-471D-7B56-4E50B7CA649E}" v="45" dt="2025-12-03T16:10:36.869"/>
  </p1510:revLst>
</p1510:revInfo>
</file>

<file path=ppt/tableStyles.xml><?xml version="1.0" encoding="utf-8"?>
<a:tblStyleLst xmlns:a="http://schemas.openxmlformats.org/drawingml/2006/main" def="{C6A1C1CC-9245-49A4-8EA1-406ACB79E9CC}">
  <a:tblStyle styleId="{C6A1C1CC-9245-49A4-8EA1-406ACB79E9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74C225F4-A308-B4FB-10F1-BFEE0281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25ACB636-D798-ECDF-C643-36797AF88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BAFC9860-6065-CFE8-18B0-73B42F96F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750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636BEC50-51F7-E616-0F1A-4BC41225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DB2FFC5C-A54B-DDEF-29E5-1C4D9ED60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5CEBF976-2336-8275-9266-8F11EB5AE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68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ece6044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acece6044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cece6044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acece6044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cece6044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acece6044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30516" y="2039242"/>
            <a:ext cx="7730966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Comparative Data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414587" y="3020317"/>
            <a:ext cx="773096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546E7A"/>
                </a:solidFill>
                <a:latin typeface="Open Sans"/>
                <a:ea typeface="Open Sans"/>
                <a:cs typeface="Open Sans"/>
                <a:sym typeface="Open Sans"/>
              </a:rPr>
              <a:t>Global Climate </a:t>
            </a:r>
            <a:r>
              <a:rPr lang="en-US" sz="2100" b="0" i="0" u="none" strike="noStrike" cap="none">
                <a:solidFill>
                  <a:srgbClr val="546E7A"/>
                </a:solidFill>
                <a:latin typeface="Open Sans"/>
                <a:ea typeface="Open Sans"/>
                <a:cs typeface="Open Sans"/>
                <a:sym typeface="Open Sans"/>
              </a:rPr>
              <a:t>Change, Taxi </a:t>
            </a:r>
            <a:r>
              <a:rPr lang="en-US" sz="2100" b="0" i="0" u="none" strike="noStrike" cap="none" dirty="0">
                <a:solidFill>
                  <a:srgbClr val="546E7A"/>
                </a:solidFill>
                <a:latin typeface="Open Sans"/>
                <a:ea typeface="Open Sans"/>
                <a:cs typeface="Open Sans"/>
                <a:sym typeface="Open Sans"/>
              </a:rPr>
              <a:t>Transport Data &amp; Flight prices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414587" y="4323308"/>
            <a:ext cx="7362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Analysis | Normalization | Big Data Performance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74896"/>
            <a:ext cx="34924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974896"/>
            <a:ext cx="3492549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990957"/>
            <a:ext cx="34924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84214" y="1196960"/>
            <a:ext cx="3267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C62828"/>
                </a:solidFill>
                <a:latin typeface="Roboto"/>
                <a:ea typeface="Roboto"/>
                <a:cs typeface="Roboto"/>
                <a:sym typeface="Roboto"/>
              </a:rPr>
              <a:t>Dataset 1: Climate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661254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Size: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Small (~1 MB)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8061" y="2060188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Tools: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Pandas, NumPy, Matplotlib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523367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Wrangling, 3NF, Visualization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462362" y="1164838"/>
            <a:ext cx="3267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8C00"/>
                </a:solidFill>
                <a:latin typeface="Roboto"/>
                <a:ea typeface="Roboto"/>
                <a:cs typeface="Roboto"/>
                <a:sym typeface="Roboto"/>
              </a:rPr>
              <a:t>Dataset 2: Medium (NYC Taxi)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540150" y="1645193"/>
            <a:ext cx="311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Size: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Medium (~5 GB)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540150" y="2044127"/>
            <a:ext cx="311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Tools: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Pandas, PySpark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40150" y="2539427"/>
            <a:ext cx="311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Initial Speed Comparison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240665" y="1180899"/>
            <a:ext cx="3267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565C0"/>
                </a:solidFill>
                <a:latin typeface="Roboto"/>
                <a:ea typeface="Roboto"/>
                <a:cs typeface="Roboto"/>
                <a:sym typeface="Roboto"/>
              </a:rPr>
              <a:t>Dataset 3:</a:t>
            </a:r>
            <a:r>
              <a:rPr lang="en-US" sz="1404" b="1">
                <a:solidFill>
                  <a:srgbClr val="1565C0"/>
                </a:solidFill>
                <a:latin typeface="Roboto"/>
                <a:ea typeface="Roboto"/>
                <a:cs typeface="Roboto"/>
                <a:sym typeface="Roboto"/>
              </a:rPr>
              <a:t> Flight prices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18450" y="1645193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Size: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Massive (&gt;30 GB)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8450" y="2044127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Tools: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Pandas, PySpark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18450" y="2523367"/>
            <a:ext cx="311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Real-World Scalability Test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260878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Project Scope &amp; Datasets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95921"/>
            <a:ext cx="11049000" cy="28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87713" y="3013301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833437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Data Modeling: 3NF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1443037"/>
            <a:ext cx="4572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204311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To ensure data integrity and reduce redundancy, the Climate dataset was normalized to the Third Normal Form (3NF).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36242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Process: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5292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Modeled using Visual Paradigm.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66800" y="41195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43000" y="411956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Eliminated partial dependencies.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66800" y="44243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43000" y="4424362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Removed transitive dependencies (e.g., separating </a:t>
            </a:r>
            <a:r>
              <a:rPr lang="en-US" sz="1500" b="0" i="1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Country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500" b="0" i="1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Continent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details from the main </a:t>
            </a:r>
            <a:r>
              <a:rPr lang="en-US" sz="1500" b="0" i="1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Emissions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fact table).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758" y="1857375"/>
            <a:ext cx="7247799" cy="41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1685925" y="2071687"/>
          <a:ext cx="8659525" cy="4431000"/>
        </p:xfrm>
        <a:graphic>
          <a:graphicData uri="http://schemas.openxmlformats.org/drawingml/2006/table">
            <a:tbl>
              <a:tblPr firstRow="1" bandRow="1">
                <a:noFill/>
                <a:tableStyleId>{C6A1C1CC-9245-49A4-8EA1-406ACB79E9CC}</a:tableStyleId>
              </a:tblPr>
              <a:tblGrid>
                <a:gridCol w="212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Variable Name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Type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calendar year of observation (2020-2025).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Continent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Varchar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Geographical region (e.g., Asia, Europe).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Avg_Temperature_C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Average annual temperature in Celsius.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CO2_Emissions_Mt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Carbon Dioxide emissions in Million Tonnes.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Climate_Risk_Index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Composite score (0-100) indicating vulnerability.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 Level Rise</a:t>
                      </a:r>
                      <a:endParaRPr sz="1500" b="1" i="0" u="none" strike="noStrike" cap="none">
                        <a:solidFill>
                          <a:srgbClr val="37415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Integer</a:t>
                      </a:r>
                      <a:endParaRPr sz="1500" b="0" i="0" u="none" strike="noStrike" cap="none">
                        <a:solidFill>
                          <a:srgbClr val="37415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Tracks the rate at which the Sea Level rises</a:t>
                      </a:r>
                      <a:endParaRPr sz="1500" b="0" i="0" u="none" strike="noStrike" cap="none">
                        <a:solidFill>
                          <a:srgbClr val="37415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1685925" y="3324225"/>
            <a:ext cx="2162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848100" y="3324225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9775" y="3324225"/>
            <a:ext cx="4686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685925" y="3943350"/>
            <a:ext cx="2162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848100" y="3943350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819775" y="3943350"/>
            <a:ext cx="4686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685925" y="4562475"/>
            <a:ext cx="2162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848100" y="4562475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19775" y="4562475"/>
            <a:ext cx="4686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685925" y="5181600"/>
            <a:ext cx="2162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848100" y="5181600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9775" y="5181600"/>
            <a:ext cx="4686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Data Dictionary: Climate Dataset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81225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81225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374" y="2476500"/>
            <a:ext cx="2901999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94225" y="3286125"/>
            <a:ext cx="30470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Data Wrangling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6861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Implemented custom functions to detect and impute missing values (mean strategy) and categorized risk indices using conditional logic.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572524" y="3286125"/>
            <a:ext cx="30470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OOP &amp; NumPy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45074" y="36861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Utilized NumPy arrays for high-performance statistical calculations (Mean, Std Dev) and Object-Oriented principles for code structure.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350824" y="3286125"/>
            <a:ext cx="30470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23374" y="3686175"/>
            <a:ext cx="2901999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Leveraged Pandas groupby() and sort_values() to aggregate metrics by continent and identify high-risk regions.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9100" y="2562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0" y="25622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Python &amp; Pandas Proficiency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8168" y="2586138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05473DC2-FDA3-1841-E213-60F0118D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>
            <a:extLst>
              <a:ext uri="{FF2B5EF4-FFF2-40B4-BE49-F238E27FC236}">
                <a16:creationId xmlns:a16="http://schemas.microsoft.com/office/drawing/2014/main" id="{2EE9AFE4-E50A-8A04-A0B7-6325ACAF66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D69A33CB-0797-2F7B-FB11-B29B184E8FD1}"/>
              </a:ext>
            </a:extLst>
          </p:cNvPr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Python &amp; Pandas Proficiency</a:t>
            </a:r>
            <a:endParaRPr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21F5EB01-D8C4-EEFF-5AFD-C0EDD5617145}"/>
              </a:ext>
            </a:extLst>
          </p:cNvPr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992488E-15F7-348F-EDAD-629CE8BF1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74" y="1285299"/>
            <a:ext cx="5087748" cy="5361544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F6D1D67-8789-CEC2-F291-4AC626DF6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522" y="1285301"/>
            <a:ext cx="5311291" cy="536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7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29475163-3BF4-5588-4DAA-723ECEEB8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>
            <a:extLst>
              <a:ext uri="{FF2B5EF4-FFF2-40B4-BE49-F238E27FC236}">
                <a16:creationId xmlns:a16="http://schemas.microsoft.com/office/drawing/2014/main" id="{7B6EAD32-8B8F-08B0-A4BF-77524AAE44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B93E77D2-9007-0569-FDC8-7DF4F861DDF0}"/>
              </a:ext>
            </a:extLst>
          </p:cNvPr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Python &amp; Pandas Proficiency</a:t>
            </a:r>
            <a:endParaRPr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AC1B6B20-8B87-99EA-AE6D-BE9A561F31EC}"/>
              </a:ext>
            </a:extLst>
          </p:cNvPr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F89411-9D52-E67B-10C7-A0B91D923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760" y="1303663"/>
            <a:ext cx="6104480" cy="543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5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90675"/>
            <a:ext cx="110490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604962" y="5405437"/>
            <a:ext cx="8982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Asia leads in total emissions, driven by industrial output, while Oceania maintains the lowest footprint.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Avg. CO2 Emissions by Continent (2020-2025)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2667000" y="5538787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High-risk regions show a steeper temperature gradient over the 5-year period.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Global Temperature Trends (Top 3 High-Risk Regions)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165" y="1314680"/>
            <a:ext cx="7175309" cy="4223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5286375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52650"/>
            <a:ext cx="5286375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1000125" y="2686050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Risk Management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00125" y="30861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Q: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Which regions require immediate infrastructure investment?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00125" y="408622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Regions with a Risk Index &gt; 80 (e.g., parts of Africa and Asia) show the highest vulnerability to sea-level rise and should be prioritized.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762750" y="2533650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Policy Strategy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762750" y="29337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Q: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Is there a correlation between CO2 output and temperature rise?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762750" y="3933825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Yes, data indicates a strong positive correlation. Mitigation policies must focus on the top 3 emitting continents to curb global temperature acceleration.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Strategic Insights (Climate)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0812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0812"/>
            <a:ext cx="52863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000125" y="3071812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53935"/>
                </a:solidFill>
                <a:latin typeface="Roboto"/>
                <a:ea typeface="Roboto"/>
                <a:cs typeface="Roboto"/>
                <a:sym typeface="Roboto"/>
              </a:rPr>
              <a:t>Q1: Highest Risk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00125" y="3605212"/>
            <a:ext cx="4476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Oceania (56.7), Europe (56.3), and Africa (56.1)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face the highest average Climate Risk Indices. Globally,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45.8%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of all observations fall into the 'High' risk category (Index ≥60), indicating widespread vulnerability.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762750" y="3071812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8C00"/>
                </a:solidFill>
                <a:latin typeface="Roboto"/>
                <a:ea typeface="Roboto"/>
                <a:cs typeface="Roboto"/>
                <a:sym typeface="Roboto"/>
              </a:rPr>
              <a:t>Q2: CO2 Efficiency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762750" y="3605212"/>
            <a:ext cx="4476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Asia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has the highest ratio of CO2 Emissions to Climate Risk (10.43). This identifies it as a region where emission reductions could yield the most significant relative impact on the risk profile.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308133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3081337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1. Risk Prioritization &amp; Allocation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3175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3175"/>
            <a:ext cx="3492549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44218" y="3476625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Q3: Global Baseline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19150" y="3886200"/>
            <a:ext cx="29972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Mean CO2 is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556.83 Mt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. A high standard deviation (258.29 Mt) confirms substantial variability, with outliers reaching near 1000 Mt.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522518" y="3476625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Q4: Peak Year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597449" y="3886200"/>
            <a:ext cx="29972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recorded the highest average CO2 emissions (585.33 Mt), serving as a key target year for investigating industrial activity spikes.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00817" y="3476625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Q5: Top Emitters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375749" y="3886200"/>
            <a:ext cx="29972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Asia (583.9 Mt)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North America (583.6 Mt)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are the primary contributors, identifying them as priority targets for mitigation.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5287" y="2867025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72162" y="286702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0462" y="2867025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2. Emissions &amp; Benchmarking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1458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1458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75749" y="2662237"/>
            <a:ext cx="2997249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744218" y="3348037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Q6: Sea Level Rise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19150" y="3757612"/>
            <a:ext cx="2997249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Africa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faces the most severe impact with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3.08 mm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average rise, necessitating urgent coastal adaptation infrastructure investment.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522518" y="3348037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Q7: Heat Stress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597449" y="3757612"/>
            <a:ext cx="29972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South America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records the highest average temperature (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22.82°C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), highlighting a need for heat-related public health strategies.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300817" y="3348037"/>
            <a:ext cx="31471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Q8: Warming Trend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375749" y="3757612"/>
            <a:ext cx="2997249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High-risk continents (Oceania, Europe, Africa) show a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consistent increasing trend</a:t>
            </a:r>
            <a:r>
              <a:rPr lang="en-US" sz="135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in temperature, compounding their existing vulnerability.</a:t>
            </a:r>
            <a:endParaRPr/>
          </a:p>
        </p:txBody>
      </p:sp>
      <p:pic>
        <p:nvPicPr>
          <p:cNvPr id="235" name="Google Shape;23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93862" y="2738437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95975" y="273843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3. Vulnerability &amp; Impacts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62000" y="1252537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The Big Data Challenge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762000" y="1862137"/>
            <a:ext cx="4572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246221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While Pandas excels at small-scale analysis, it faces critical limitations with large datasets (&gt;5GB) typical in enterprise environments.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40433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 Solution: Apache Spark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066800" y="45386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43000" y="453866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Distributed Computing (Cluster-based).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66800" y="48434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143000" y="484346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Lazy Evaluation (Optimized execution plans).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066800" y="51482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143000" y="514826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Fault Tolerance.</a:t>
            </a:r>
            <a:endParaRPr/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600" y="0"/>
            <a:ext cx="6629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1950" y="337866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3458964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98049" y="345896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1047750" y="4590008"/>
            <a:ext cx="10096500" cy="381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79423" y="4282977"/>
            <a:ext cx="3867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Load Data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875758"/>
            <a:ext cx="3683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Measure time to read CSV into memory/dataframe.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162473" y="4347221"/>
            <a:ext cx="3867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Process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254549" y="4875758"/>
            <a:ext cx="3683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Perform a ‘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Group by</a:t>
            </a:r>
            <a:r>
              <a:rPr lang="en-US" sz="15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’ using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some</a:t>
            </a:r>
            <a:r>
              <a:rPr lang="en-US" sz="15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tables in each individual dataset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845522" y="4347221"/>
            <a:ext cx="3867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Measure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937599" y="4875758"/>
            <a:ext cx="3683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Record Wall Time (sec) and Memory Usage (MB).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Performance Comparison Methodology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2566987" y="1857375"/>
            <a:ext cx="70580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46E7A"/>
                </a:solidFill>
                <a:latin typeface="Open Sans"/>
                <a:ea typeface="Open Sans"/>
                <a:cs typeface="Open Sans"/>
                <a:sym typeface="Open Sans"/>
              </a:rPr>
              <a:t>Benchmarking Pandas vs. Spark across Three Data Scales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23"/>
          <p:cNvGraphicFramePr/>
          <p:nvPr/>
        </p:nvGraphicFramePr>
        <p:xfrm>
          <a:off x="1104900" y="1762125"/>
          <a:ext cx="9982200" cy="4352950"/>
        </p:xfrm>
        <a:graphic>
          <a:graphicData uri="http://schemas.openxmlformats.org/drawingml/2006/table">
            <a:tbl>
              <a:tblPr firstRow="1" bandRow="1">
                <a:noFill/>
                <a:tableStyleId>{C6A1C1CC-9245-49A4-8EA1-406ACB79E9CC}</a:tableStyleId>
              </a:tblPr>
              <a:tblGrid>
                <a:gridCol w="19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 Data (~0.1 MB)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Data (~5 GB)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Massive Data (&gt;30 GB)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Execution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0.35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25.19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MemoryError (Crash)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~0.50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36.75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803.88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Aggregation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0.001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0.29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~0.30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9.18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394.96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Memory Profile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In-RAM (0.1 MB)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In-RAM (Risk)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 of 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Optimized/Spillable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Optimized/Spillable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Optimized/Spillable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0" name="Google Shape;240;p23"/>
          <p:cNvSpPr/>
          <p:nvPr/>
        </p:nvSpPr>
        <p:spPr>
          <a:xfrm>
            <a:off x="1104900" y="3014662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038475" y="3014662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990975" y="3014662"/>
            <a:ext cx="2219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210300" y="3014662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8496300" y="3014662"/>
            <a:ext cx="259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104900" y="3633787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038475" y="3633787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990975" y="3633787"/>
            <a:ext cx="2219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210300" y="3633787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496300" y="3633787"/>
            <a:ext cx="259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1104900" y="4252912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038475" y="4252912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990975" y="4252912"/>
            <a:ext cx="2219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210300" y="4252912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8496300" y="4252912"/>
            <a:ext cx="259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104900" y="4872037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3038475" y="4872037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990975" y="4872037"/>
            <a:ext cx="2219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210300" y="4872037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496300" y="4872037"/>
            <a:ext cx="259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104900" y="5491162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038475" y="5491162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990975" y="5491162"/>
            <a:ext cx="2219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210300" y="5491162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496300" y="5491162"/>
            <a:ext cx="259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Benchmark Results: Time and Memory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1104900" y="30146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038475" y="30146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990975" y="30146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210300" y="30146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8496300" y="30146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1104900" y="363378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038475" y="363378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3990975" y="363378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6210300" y="363378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8496300" y="363378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1104900" y="425291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3038475" y="425291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990975" y="425291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210300" y="425291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8496300" y="425291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104900" y="487203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3038475" y="487203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3990975" y="487203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6210300" y="487203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8496300" y="487203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104900" y="54911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038475" y="54911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3990975" y="54911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210300" y="54911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8496300" y="54911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Screenshot of code output</a:t>
            </a: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&lt; 1mb Climate change dataset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571500" y="1181100"/>
            <a:ext cx="11049000" cy="28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521800" y="1276655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793400" y="1284507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Pyspark</a:t>
            </a:r>
            <a:endParaRPr/>
          </a:p>
        </p:txBody>
      </p:sp>
      <p:pic>
        <p:nvPicPr>
          <p:cNvPr id="301" name="Google Shape;30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32" y="2062375"/>
            <a:ext cx="5396697" cy="3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2821" y="2062375"/>
            <a:ext cx="5982924" cy="3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/>
          <p:nvPr/>
        </p:nvSpPr>
        <p:spPr>
          <a:xfrm>
            <a:off x="1104900" y="30146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3038475" y="30146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3990975" y="30146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6210300" y="30146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8496300" y="30146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1104900" y="363378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3038475" y="363378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3990975" y="363378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6210300" y="363378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8496300" y="363378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1104900" y="425291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3038475" y="425291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3990975" y="425291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6210300" y="425291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8496300" y="425291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104900" y="487203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038475" y="487203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3990975" y="487203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210300" y="487203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8496300" y="487203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1104900" y="54911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3038475" y="54911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3990975" y="54911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6210300" y="54911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8496300" y="54911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Screenshot of code output</a:t>
            </a: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Around 5gb Taxi dataset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571500" y="1181100"/>
            <a:ext cx="11049000" cy="28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521800" y="1276655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793400" y="1284507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Pyspark</a:t>
            </a:r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341" y="1921975"/>
            <a:ext cx="6861807" cy="49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6"/>
          <p:cNvSpPr/>
          <p:nvPr/>
        </p:nvSpPr>
        <p:spPr>
          <a:xfrm>
            <a:off x="1104900" y="30146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3038475" y="30146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3990975" y="30146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6210300" y="30146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8496300" y="30146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1104900" y="363378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3038475" y="363378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3990975" y="363378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6210300" y="363378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8496300" y="363378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1104900" y="425291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3038475" y="425291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3990975" y="425291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6210300" y="425291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8496300" y="425291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1104900" y="4872037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3038475" y="4872037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3990975" y="4872037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6210300" y="4872037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8496300" y="4872037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1104900" y="5491162"/>
            <a:ext cx="1933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3038475" y="5491162"/>
            <a:ext cx="95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3990975" y="5491162"/>
            <a:ext cx="221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6210300" y="5491162"/>
            <a:ext cx="228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8496300" y="5491162"/>
            <a:ext cx="259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Screenshot of code output</a:t>
            </a: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&gt; 30GB flight dataset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571500" y="1181100"/>
            <a:ext cx="11049000" cy="28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725" y="2062219"/>
            <a:ext cx="6037375" cy="343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325" y="2032875"/>
            <a:ext cx="5583049" cy="346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 txBox="1"/>
          <p:nvPr/>
        </p:nvSpPr>
        <p:spPr>
          <a:xfrm>
            <a:off x="521800" y="1276655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793400" y="1284507"/>
            <a:ext cx="41229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Pyspark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/>
        </p:nvSpPr>
        <p:spPr>
          <a:xfrm>
            <a:off x="1047750" y="2166937"/>
            <a:ext cx="1057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Phase 1: Small Data (0.1 MB):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Pandas is Faster. Its low-level, in-memory operations beat Spark by a significant margin (0.35s vs. ~0.50s), making it ideal for local EDA.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1047750" y="3014662"/>
            <a:ext cx="10572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Phase 2: Medium Data </a:t>
            </a:r>
            <a:r>
              <a:rPr lang="en-US" sz="1500" b="1" dirty="0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(&lt;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5 GB):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Pandas is Still Faster in Total Time (25.19s vs. 36.75s). However, Spark's aggregation time (9.18s) is more robust due to parallel processing, and Pandas is approaching its memory limit.</a:t>
            </a:r>
            <a:endParaRPr dirty="0"/>
          </a:p>
        </p:txBody>
      </p:sp>
      <p:sp>
        <p:nvSpPr>
          <p:cNvPr id="381" name="Google Shape;381;p27"/>
          <p:cNvSpPr txBox="1"/>
          <p:nvPr/>
        </p:nvSpPr>
        <p:spPr>
          <a:xfrm>
            <a:off x="1047750" y="3862387"/>
            <a:ext cx="10572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Phase 3: Massive Data (&gt;30 GB):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Spark is the Only Solution</a:t>
            </a:r>
            <a:r>
              <a:rPr lang="en-US" sz="15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! 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Pandas failed with a `MemoryError` (crash), whereas PySpark successfully completed the 803-second job by utilizing distributed resources and intelligently spilling data to disk.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047750" y="5014912"/>
            <a:ext cx="1057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Conclusion: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Scalability trumps speed for production data. For anything over 5GB, Spark provides necessary capacity and reliability.</a:t>
            </a:r>
            <a:endParaRPr/>
          </a:p>
        </p:txBody>
      </p:sp>
      <p:pic>
        <p:nvPicPr>
          <p:cNvPr id="383" name="Google Shape;3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50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5276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004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530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Three-Phase Analysis: Speed vs. Scalability</a:t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52863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57450"/>
            <a:ext cx="52863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 txBox="1"/>
          <p:nvPr/>
        </p:nvSpPr>
        <p:spPr>
          <a:xfrm>
            <a:off x="1000125" y="2838450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Infrastructure Cost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1000125" y="32385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Q: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Should we migrate all pipelines to Spark?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1000125" y="393382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Only for data exceeding 5GB. For smaller analytical tasks, Pandas is more cost-effective and developer-friendly (lower complexity).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6762750" y="2838450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Real-time Processing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6762750" y="32385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Q: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Can we use this for real-time dashboards?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6762750" y="393382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Spark Streaming is recommended for real-time ingestion. Pandas is suitable only for static, batch reporting on smaller subsets.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Strategic Insights (Big Data)</a:t>
            </a:r>
            <a:endParaRPr/>
          </a:p>
        </p:txBody>
      </p:sp>
      <p:sp>
        <p:nvSpPr>
          <p:cNvPr id="403" name="Google Shape;403;p28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9"/>
          <p:cNvSpPr txBox="1"/>
          <p:nvPr/>
        </p:nvSpPr>
        <p:spPr>
          <a:xfrm>
            <a:off x="762000" y="762000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Final Recommendation</a:t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762000" y="1371600"/>
            <a:ext cx="4572000" cy="2857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2247900" y="1921220"/>
            <a:ext cx="2011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Hybrid Approach:</a:t>
            </a:r>
            <a:endParaRPr sz="3000"/>
          </a:p>
        </p:txBody>
      </p:sp>
      <p:sp>
        <p:nvSpPr>
          <p:cNvPr id="412" name="Google Shape;412;p29"/>
          <p:cNvSpPr txBox="1"/>
          <p:nvPr/>
        </p:nvSpPr>
        <p:spPr>
          <a:xfrm>
            <a:off x="1066800" y="35385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1143000" y="3538537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Pandas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for data exploration, cleaning, and reporting on datasets &lt; 5GB.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1066800" y="41481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1143000" y="4148137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Deploy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Apache Spark</a:t>
            </a:r>
            <a:r>
              <a:rPr lang="en-US" sz="15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for production pipelines involving high-volume historical data or ETL processes exceeding memory limits.</a:t>
            </a:r>
            <a:endParaRPr/>
          </a:p>
        </p:txBody>
      </p:sp>
      <p:pic>
        <p:nvPicPr>
          <p:cNvPr id="416" name="Google Shape;41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Widescreen</PresentationFormat>
  <Paragraphs>162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Roboto</vt:lpstr>
      <vt:lpstr>Arial</vt:lpstr>
      <vt:lpstr>Open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Promise Jameson</cp:lastModifiedBy>
  <cp:revision>26</cp:revision>
  <dcterms:modified xsi:type="dcterms:W3CDTF">2026-06-13T12:49:25Z</dcterms:modified>
</cp:coreProperties>
</file>